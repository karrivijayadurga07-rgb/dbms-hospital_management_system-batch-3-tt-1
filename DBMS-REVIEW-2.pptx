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87" r:id="rId4"/>
    <p:sldId id="259" r:id="rId5"/>
    <p:sldId id="286" r:id="rId6"/>
    <p:sldId id="285" r:id="rId7"/>
    <p:sldId id="262" r:id="rId8"/>
    <p:sldId id="263" r:id="rId9"/>
    <p:sldId id="264" r:id="rId10"/>
    <p:sldId id="265" r:id="rId11"/>
    <p:sldId id="266" r:id="rId12"/>
    <p:sldId id="267" r:id="rId13"/>
    <p:sldId id="284" r:id="rId14"/>
    <p:sldId id="269" r:id="rId15"/>
    <p:sldId id="283" r:id="rId16"/>
    <p:sldId id="272" r:id="rId17"/>
    <p:sldId id="271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55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763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09728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67E496-2026-428F-1930-72441E6B8036}"/>
              </a:ext>
            </a:extLst>
          </p:cNvPr>
          <p:cNvSpPr txBox="1"/>
          <p:nvPr/>
        </p:nvSpPr>
        <p:spPr>
          <a:xfrm>
            <a:off x="2172929" y="786581"/>
            <a:ext cx="796113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dirty="0"/>
              <a:t>HOSPITAL MANAGEMENT SYSTEM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3DA906-16F0-9752-C340-0AE1B96765E8}"/>
              </a:ext>
            </a:extLst>
          </p:cNvPr>
          <p:cNvSpPr txBox="1"/>
          <p:nvPr/>
        </p:nvSpPr>
        <p:spPr>
          <a:xfrm>
            <a:off x="3706761" y="1632155"/>
            <a:ext cx="40803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/>
              <a:t>Database  Application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1340B4-8784-ABE5-EC1C-6CF010A9DC66}"/>
              </a:ext>
            </a:extLst>
          </p:cNvPr>
          <p:cNvSpPr txBox="1"/>
          <p:nvPr/>
        </p:nvSpPr>
        <p:spPr>
          <a:xfrm>
            <a:off x="3421626" y="2839412"/>
            <a:ext cx="47784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/>
              <a:t>Capstone Project – Review - 2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BE84EBC-0AE0-8A36-CCCD-D94BD750064E}"/>
              </a:ext>
            </a:extLst>
          </p:cNvPr>
          <p:cNvSpPr txBox="1"/>
          <p:nvPr/>
        </p:nvSpPr>
        <p:spPr>
          <a:xfrm>
            <a:off x="3728724" y="3539613"/>
            <a:ext cx="41272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/>
              <a:t>Database  Implementation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8E0147-6317-9C59-64B1-8F8861F5F705}"/>
              </a:ext>
            </a:extLst>
          </p:cNvPr>
          <p:cNvSpPr txBox="1"/>
          <p:nvPr/>
        </p:nvSpPr>
        <p:spPr>
          <a:xfrm>
            <a:off x="3048000" y="4385187"/>
            <a:ext cx="59583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/>
              <a:t>Database Management system (2501IT05)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353051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/>
            </a:pPr>
            <a:r>
              <a:rPr sz="4000" dirty="0"/>
              <a:t>1. 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881360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469880" cy="3062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rPr sz="2400" dirty="0"/>
              <a:t>• Centralized relational database for hospital information.</a:t>
            </a:r>
          </a:p>
          <a:p>
            <a:pPr>
              <a:spcAft>
                <a:spcPts val="1000"/>
              </a:spcAft>
              <a:defRPr sz="1700"/>
            </a:pPr>
            <a:r>
              <a:rPr sz="2400" dirty="0"/>
              <a:t>• Core entities: Department, Patient, Doctor, Appointment, Medical Record, Medicine, Prescription, Billing, Room, and Staff.</a:t>
            </a:r>
          </a:p>
          <a:p>
            <a:pPr>
              <a:spcAft>
                <a:spcPts val="1000"/>
              </a:spcAft>
              <a:defRPr sz="1700"/>
            </a:pPr>
            <a:r>
              <a:rPr sz="2400" dirty="0"/>
              <a:t>• Supports patient, doctor, department, appointment, medical record, medicine, prescription, billing, room, and staff management.</a:t>
            </a:r>
          </a:p>
          <a:p>
            <a:pPr>
              <a:spcAft>
                <a:spcPts val="1000"/>
              </a:spcAft>
              <a:defRPr sz="1700"/>
            </a:pPr>
            <a:r>
              <a:rPr sz="2400" dirty="0"/>
              <a:t>• Designed to reduce redundancy, maintain data integrity, and support efficient SQL retrieval and reporting</a:t>
            </a:r>
            <a:r>
              <a:rPr dirty="0"/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88F78-F185-0186-C511-13FED69EC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A679D57-345C-1936-27FD-D178AFF9FFAB}"/>
              </a:ext>
            </a:extLst>
          </p:cNvPr>
          <p:cNvSpPr txBox="1"/>
          <p:nvPr/>
        </p:nvSpPr>
        <p:spPr>
          <a:xfrm>
            <a:off x="594360" y="320040"/>
            <a:ext cx="7808356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600" dirty="0"/>
              <a:t>2. Existing System and Proposed System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915961F-7C5B-E62E-CB97-29EBBBC2C54B}"/>
              </a:ext>
            </a:extLst>
          </p:cNvPr>
          <p:cNvSpPr/>
          <p:nvPr/>
        </p:nvSpPr>
        <p:spPr>
          <a:xfrm>
            <a:off x="594360" y="987552"/>
            <a:ext cx="10881360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872D0D9-9CFF-29A2-CDD8-DA8A2E150E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4775015"/>
              </p:ext>
            </p:extLst>
          </p:nvPr>
        </p:nvGraphicFramePr>
        <p:xfrm>
          <a:off x="594360" y="1325880"/>
          <a:ext cx="10881360" cy="493776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46760">
                <a:tc>
                  <a:txBody>
                    <a:bodyPr/>
                    <a:lstStyle/>
                    <a:p>
                      <a:pPr algn="ctr">
                        <a:defRPr sz="1500" b="1"/>
                      </a:pPr>
                      <a:r>
                        <a:rPr sz="2400" dirty="0"/>
                        <a:t>Existing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 b="1"/>
                      </a:pPr>
                      <a:r>
                        <a:rPr sz="2400"/>
                        <a:t>Proposed Database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 b="1"/>
                      </a:pPr>
                      <a:r>
                        <a:rPr sz="2400"/>
                        <a:t>Project Benefit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2400" dirty="0"/>
                        <a:t>Manual records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2400"/>
                        <a:t>Centralized relational database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2400"/>
                        <a:t>Faster storage and retrieval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2400" dirty="0"/>
                        <a:t>Disconnected files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2400"/>
                        <a:t>Related tables with defined relationships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2400"/>
                        <a:t>Better data organization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2400" dirty="0"/>
                        <a:t>Duplicate/inconsistent information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2400"/>
                        <a:t>Keys and constraints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2400"/>
                        <a:t>Improved data integrity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2400" dirty="0"/>
                        <a:t>Time-consuming searches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2400"/>
                        <a:t>SQL queries and reporting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2400"/>
                        <a:t>Quick information retrieval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2400"/>
                        <a:t>Difficult report generation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2400" dirty="0"/>
                        <a:t>Joins, aggregation, views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2400" dirty="0"/>
                        <a:t>Efficient reporting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82857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5448736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/>
            </a:pPr>
            <a:r>
              <a:rPr sz="3600" dirty="0"/>
              <a:t>3. Functional Requirements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881360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469880" cy="3888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rPr sz="2000" dirty="0"/>
              <a:t>• Patient Management – add, update, search, and display patient details.</a:t>
            </a:r>
          </a:p>
          <a:p>
            <a:pPr>
              <a:spcAft>
                <a:spcPts val="1000"/>
              </a:spcAft>
              <a:defRPr sz="1700"/>
            </a:pPr>
            <a:r>
              <a:rPr sz="2000" dirty="0"/>
              <a:t>• Department Management – store and maintain department information.</a:t>
            </a:r>
          </a:p>
          <a:p>
            <a:pPr>
              <a:spcAft>
                <a:spcPts val="1000"/>
              </a:spcAft>
              <a:defRPr sz="1700"/>
            </a:pPr>
            <a:r>
              <a:rPr sz="2000" dirty="0"/>
              <a:t>• Doctor Management – store doctor details and associate doctors with departments.</a:t>
            </a:r>
          </a:p>
          <a:p>
            <a:pPr>
              <a:spcAft>
                <a:spcPts val="1000"/>
              </a:spcAft>
              <a:defRPr sz="1700"/>
            </a:pPr>
            <a:r>
              <a:rPr sz="2000" dirty="0"/>
              <a:t>• Appointment Management – schedule and maintain patient-doctor appointments.</a:t>
            </a:r>
          </a:p>
          <a:p>
            <a:pPr>
              <a:spcAft>
                <a:spcPts val="1000"/>
              </a:spcAft>
              <a:defRPr sz="1700"/>
            </a:pPr>
            <a:r>
              <a:rPr sz="2000" dirty="0"/>
              <a:t>• Medical Record Management – maintain diagnosis and treatment records.</a:t>
            </a:r>
          </a:p>
          <a:p>
            <a:pPr>
              <a:spcAft>
                <a:spcPts val="1000"/>
              </a:spcAft>
              <a:defRPr sz="1700"/>
            </a:pPr>
            <a:r>
              <a:rPr sz="2000" dirty="0"/>
              <a:t>• Medicine &amp; Prescription Management – maintain medicine stock and prescribed medicines.</a:t>
            </a:r>
          </a:p>
          <a:p>
            <a:pPr>
              <a:spcAft>
                <a:spcPts val="1000"/>
              </a:spcAft>
              <a:defRPr sz="1700"/>
            </a:pPr>
            <a:r>
              <a:rPr sz="2000" dirty="0"/>
              <a:t>• Billing Management – store consultation, medicine, and total billing details.</a:t>
            </a:r>
          </a:p>
          <a:p>
            <a:pPr>
              <a:spcAft>
                <a:spcPts val="1000"/>
              </a:spcAft>
              <a:defRPr sz="1700"/>
            </a:pPr>
            <a:r>
              <a:rPr sz="2000" dirty="0"/>
              <a:t>• Room &amp; Staff Management – maintain room availability and staff details.</a:t>
            </a:r>
          </a:p>
          <a:p>
            <a:pPr>
              <a:spcAft>
                <a:spcPts val="1000"/>
              </a:spcAft>
              <a:defRPr sz="1700"/>
            </a:pPr>
            <a:r>
              <a:rPr sz="2000" dirty="0"/>
              <a:t>• Search and Reporting – retrieve hospital information using SQL queries.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DD45B-83A5-E38D-E7C2-9C94FF42A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6D94768-6047-A322-F119-37FCEDFBC033}"/>
              </a:ext>
            </a:extLst>
          </p:cNvPr>
          <p:cNvSpPr txBox="1"/>
          <p:nvPr/>
        </p:nvSpPr>
        <p:spPr>
          <a:xfrm>
            <a:off x="594360" y="320040"/>
            <a:ext cx="8962710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600" dirty="0"/>
              <a:t>4. Database Schema Used for Implementation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744AA7E-0FF7-0A6D-3F5D-ACDAE068FF97}"/>
              </a:ext>
            </a:extLst>
          </p:cNvPr>
          <p:cNvSpPr/>
          <p:nvPr/>
        </p:nvSpPr>
        <p:spPr>
          <a:xfrm>
            <a:off x="594360" y="987552"/>
            <a:ext cx="10881360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6985735-D71C-1E7F-14E8-633E92745F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2739798"/>
              </p:ext>
            </p:extLst>
          </p:nvPr>
        </p:nvGraphicFramePr>
        <p:xfrm>
          <a:off x="594360" y="1325880"/>
          <a:ext cx="10881360" cy="448056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7323">
                <a:tc>
                  <a:txBody>
                    <a:bodyPr/>
                    <a:lstStyle/>
                    <a:p>
                      <a:pPr algn="ctr">
                        <a:defRPr sz="1500" b="1"/>
                      </a:pPr>
                      <a:r>
                        <a:rPr sz="2000" dirty="0"/>
                        <a:t>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 b="1"/>
                      </a:pPr>
                      <a:r>
                        <a:rPr sz="2000"/>
                        <a:t>Primary 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 b="1"/>
                      </a:pPr>
                      <a:r>
                        <a:rPr sz="2000"/>
                        <a:t>Foreign Keys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323"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2000" dirty="0"/>
                        <a:t>Department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2000"/>
                        <a:t>Department_ID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2000"/>
                        <a:t>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7323"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2000" dirty="0"/>
                        <a:t>Patient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2000"/>
                        <a:t>Patient_ID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2000"/>
                        <a:t>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7323"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2000" dirty="0"/>
                        <a:t>Doctor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2000"/>
                        <a:t>Doctor_ID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2000"/>
                        <a:t>Department_ID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7323"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2000" dirty="0"/>
                        <a:t>Appointment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2000"/>
                        <a:t>Appointment_ID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2000"/>
                        <a:t>Patient_ID, Doctor_ID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7323"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2000" dirty="0" err="1"/>
                        <a:t>Medical_Record</a:t>
                      </a:r>
                      <a:endParaRPr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2000"/>
                        <a:t>Record_ID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2000"/>
                        <a:t>Patient_ID, Doctor_ID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7323"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2000" dirty="0"/>
                        <a:t>Medicine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2000"/>
                        <a:t>Medicine_ID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2000"/>
                        <a:t>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7323"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2000" dirty="0"/>
                        <a:t>Prescription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2000"/>
                        <a:t>Prescription_ID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2000"/>
                        <a:t>Patient_ID, Doctor_ID, Medicine_ID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7323"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2000" dirty="0"/>
                        <a:t>Billing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2000"/>
                        <a:t>Bill_ID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2000"/>
                        <a:t>Patient_ID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7323"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2000" dirty="0"/>
                        <a:t>Room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2000" dirty="0" err="1"/>
                        <a:t>Room_ID</a:t>
                      </a:r>
                      <a:endParaRPr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2000"/>
                        <a:t>Department_ID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7330"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2000"/>
                        <a:t>Staff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2000" dirty="0" err="1"/>
                        <a:t>Staff_ID</a:t>
                      </a:r>
                      <a:endParaRPr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2000" dirty="0" err="1"/>
                        <a:t>Department_ID</a:t>
                      </a:r>
                      <a:endParaRPr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32624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551B5-672C-F045-5030-E603CA29E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D964ED3-9BCA-C0DD-3DFE-281E37CB8901}"/>
              </a:ext>
            </a:extLst>
          </p:cNvPr>
          <p:cNvSpPr txBox="1"/>
          <p:nvPr/>
        </p:nvSpPr>
        <p:spPr>
          <a:xfrm>
            <a:off x="594360" y="320040"/>
            <a:ext cx="6154185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600" dirty="0"/>
              <a:t>5. Table Design and Constraints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8A2052-77A7-C9B2-E123-FF9E7E968410}"/>
              </a:ext>
            </a:extLst>
          </p:cNvPr>
          <p:cNvSpPr/>
          <p:nvPr/>
        </p:nvSpPr>
        <p:spPr>
          <a:xfrm>
            <a:off x="594360" y="987552"/>
            <a:ext cx="10881360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E43A2DF-73B7-2509-DF8E-A4998FE146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6357063"/>
              </p:ext>
            </p:extLst>
          </p:nvPr>
        </p:nvGraphicFramePr>
        <p:xfrm>
          <a:off x="594360" y="1325880"/>
          <a:ext cx="10881360" cy="5256412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7323">
                <a:tc>
                  <a:txBody>
                    <a:bodyPr/>
                    <a:lstStyle/>
                    <a:p>
                      <a:pPr algn="ctr">
                        <a:defRPr sz="1500" b="1"/>
                      </a:pPr>
                      <a:r>
                        <a:rPr sz="1400" dirty="0"/>
                        <a:t>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 b="1"/>
                      </a:pPr>
                      <a:r>
                        <a:rPr sz="1400"/>
                        <a:t>Key / Validation Rules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 b="1"/>
                      </a:pPr>
                      <a:r>
                        <a:rPr sz="1400"/>
                        <a:t>Main Purpose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323"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1400" dirty="0"/>
                        <a:t>Department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1400"/>
                        <a:t>PK Department_ID; UNIQUE Department_Name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1400"/>
                        <a:t>Hospital department information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7323"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1400" dirty="0"/>
                        <a:t>Patient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1400"/>
                        <a:t>PK Patient_ID; NOT NULL DOB; UNIQUE Phone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1400"/>
                        <a:t>Patient details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7323"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1400" dirty="0"/>
                        <a:t>Doctor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1400"/>
                        <a:t>PK Doctor_ID; UNIQUE Phone/Email; FK Department_ID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1400"/>
                        <a:t>Doctor details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7323"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1400"/>
                        <a:t>Appointment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1400"/>
                        <a:t>PK Appointment_ID; FKs Patient_ID, Doctor_ID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1400"/>
                        <a:t>Patient-doctor appointments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7323"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1400" dirty="0" err="1"/>
                        <a:t>Medical_Record</a:t>
                      </a:r>
                      <a:endParaRPr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1400"/>
                        <a:t>PK Record_ID; FKs Patient_ID, Doctor_ID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1400"/>
                        <a:t>Diagnosis and treatment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7323"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1400" dirty="0"/>
                        <a:t>Medicine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1400"/>
                        <a:t>PK Medicine_ID; CHECK Quantity/Unit_Price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1400"/>
                        <a:t>Medicine inventory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7323"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1400" dirty="0"/>
                        <a:t>Prescription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1400"/>
                        <a:t>PK Prescription_ID; FKs Patient/Doctor/Medicine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1400"/>
                        <a:t>Prescribed medicines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7323"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1400" dirty="0"/>
                        <a:t>Billing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1400"/>
                        <a:t>PK Bill_ID; FK Patient_ID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1400"/>
                        <a:t>Patient billing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7323"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1400"/>
                        <a:t>Room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1400" dirty="0"/>
                        <a:t>PK </a:t>
                      </a:r>
                      <a:r>
                        <a:rPr sz="1400" dirty="0" err="1"/>
                        <a:t>Room_ID</a:t>
                      </a:r>
                      <a:r>
                        <a:rPr sz="1400" dirty="0"/>
                        <a:t>; UNIQUE </a:t>
                      </a:r>
                      <a:r>
                        <a:rPr sz="1400" dirty="0" err="1"/>
                        <a:t>Room_Number</a:t>
                      </a:r>
                      <a:r>
                        <a:rPr sz="1400" dirty="0"/>
                        <a:t>; FK </a:t>
                      </a:r>
                      <a:r>
                        <a:rPr sz="1400" dirty="0" err="1"/>
                        <a:t>Department_ID</a:t>
                      </a:r>
                      <a:endParaRPr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1400"/>
                        <a:t>Room allocation/status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7330"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1400"/>
                        <a:t>Staff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1400" dirty="0"/>
                        <a:t>PK </a:t>
                      </a:r>
                      <a:r>
                        <a:rPr sz="1400" dirty="0" err="1"/>
                        <a:t>Staff_ID</a:t>
                      </a:r>
                      <a:r>
                        <a:rPr sz="1400" dirty="0"/>
                        <a:t>; UNIQUE Phone/Email; FK </a:t>
                      </a:r>
                      <a:r>
                        <a:rPr sz="1400" dirty="0" err="1"/>
                        <a:t>Department_ID</a:t>
                      </a:r>
                      <a:endParaRPr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1400" dirty="0"/>
                        <a:t>Hospital staff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06003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5328510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/>
            </a:pPr>
            <a:r>
              <a:rPr sz="3600" dirty="0"/>
              <a:t>6. Normalization up to 3NF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881360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469880" cy="39292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rPr sz="2400" dirty="0"/>
              <a:t>• UNF: repeated patient, doctor, department, medicine, prescription, and billing information may occur in combined records.</a:t>
            </a:r>
          </a:p>
          <a:p>
            <a:pPr>
              <a:spcAft>
                <a:spcPts val="1000"/>
              </a:spcAft>
              <a:defRPr sz="1700"/>
            </a:pPr>
            <a:r>
              <a:rPr sz="2400" dirty="0"/>
              <a:t>• 1NF: repeating groups are removed and attributes contain atomic values.</a:t>
            </a:r>
          </a:p>
          <a:p>
            <a:pPr>
              <a:spcAft>
                <a:spcPts val="1000"/>
              </a:spcAft>
              <a:defRPr sz="1700"/>
            </a:pPr>
            <a:r>
              <a:rPr sz="2400" dirty="0"/>
              <a:t>• 2NF: partial dependencies are removed by separating independent entity information from relationship data.</a:t>
            </a:r>
          </a:p>
          <a:p>
            <a:pPr>
              <a:spcAft>
                <a:spcPts val="1000"/>
              </a:spcAft>
              <a:defRPr sz="1700"/>
            </a:pPr>
            <a:r>
              <a:rPr sz="2400" dirty="0"/>
              <a:t>• 3NF: transitive dependencies are removed; department, doctor, patient, medicine, and other details are stored in their own relations.</a:t>
            </a:r>
          </a:p>
          <a:p>
            <a:pPr>
              <a:spcAft>
                <a:spcPts val="1000"/>
              </a:spcAft>
              <a:defRPr sz="1700"/>
            </a:pPr>
            <a:r>
              <a:rPr sz="2400" dirty="0"/>
              <a:t>• Final relations: Department, Patient, Doctor, Appointment, </a:t>
            </a:r>
            <a:r>
              <a:rPr sz="2400" dirty="0" err="1"/>
              <a:t>Medical_Record</a:t>
            </a:r>
            <a:r>
              <a:rPr sz="2400" dirty="0"/>
              <a:t>, Medicine, Prescription, Billing, Room, and Staff.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5793317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/>
            </a:pPr>
            <a:r>
              <a:rPr sz="3600" dirty="0"/>
              <a:t>7. SQL Implementation – DDL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881360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469880" cy="2949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rPr sz="2400" dirty="0"/>
              <a:t>• CREATE DATABASE </a:t>
            </a:r>
            <a:r>
              <a:rPr sz="2400" dirty="0" err="1"/>
              <a:t>Hospital_Management_System</a:t>
            </a:r>
            <a:r>
              <a:rPr sz="2400" dirty="0"/>
              <a:t>.</a:t>
            </a:r>
          </a:p>
          <a:p>
            <a:pPr>
              <a:spcAft>
                <a:spcPts val="1000"/>
              </a:spcAft>
              <a:defRPr sz="1700"/>
            </a:pPr>
            <a:r>
              <a:rPr sz="2400" dirty="0"/>
              <a:t>• Create all ten project tables.</a:t>
            </a:r>
          </a:p>
          <a:p>
            <a:pPr>
              <a:spcAft>
                <a:spcPts val="1000"/>
              </a:spcAft>
              <a:defRPr sz="1700"/>
            </a:pPr>
            <a:r>
              <a:rPr sz="2400" dirty="0"/>
              <a:t>• Define Primary Keys and Foreign Keys.</a:t>
            </a:r>
          </a:p>
          <a:p>
            <a:pPr>
              <a:spcAft>
                <a:spcPts val="1000"/>
              </a:spcAft>
              <a:defRPr sz="1700"/>
            </a:pPr>
            <a:r>
              <a:rPr sz="2400" dirty="0"/>
              <a:t>• Apply NOT NULL, UNIQUE, CHECK, and DEFAULT constraints where appropriate.</a:t>
            </a:r>
          </a:p>
          <a:p>
            <a:pPr>
              <a:spcAft>
                <a:spcPts val="1000"/>
              </a:spcAft>
              <a:defRPr sz="1700"/>
            </a:pPr>
            <a:r>
              <a:rPr sz="2400" dirty="0"/>
              <a:t>• Use ALTER TABLE when table definitions need modification.</a:t>
            </a:r>
          </a:p>
          <a:p>
            <a:pPr>
              <a:spcAft>
                <a:spcPts val="1000"/>
              </a:spcAft>
              <a:defRPr sz="1700"/>
            </a:pPr>
            <a:r>
              <a:rPr sz="2400" dirty="0"/>
              <a:t>• Show actual SQL and execution results in the final presentation.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2850" y="320040"/>
            <a:ext cx="5905527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/>
            </a:pPr>
            <a:r>
              <a:rPr sz="3600" dirty="0"/>
              <a:t>8. SQL Implementation – DML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881360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469880" cy="24519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rPr sz="2400" dirty="0"/>
              <a:t>• INSERT sample records into all ten tables.</a:t>
            </a:r>
          </a:p>
          <a:p>
            <a:pPr>
              <a:spcAft>
                <a:spcPts val="1000"/>
              </a:spcAft>
              <a:defRPr sz="1700"/>
            </a:pPr>
            <a:r>
              <a:rPr sz="2400" dirty="0"/>
              <a:t>• Insert parent records before child records to satisfy foreign-key constraints.</a:t>
            </a:r>
          </a:p>
          <a:p>
            <a:pPr>
              <a:spcAft>
                <a:spcPts val="1000"/>
              </a:spcAft>
              <a:defRPr sz="1700"/>
            </a:pPr>
            <a:r>
              <a:rPr sz="2400" dirty="0"/>
              <a:t>• UPDATE existing records to demonstrate modification.</a:t>
            </a:r>
          </a:p>
          <a:p>
            <a:pPr>
              <a:spcAft>
                <a:spcPts val="1000"/>
              </a:spcAft>
              <a:defRPr sz="1700"/>
            </a:pPr>
            <a:r>
              <a:rPr sz="2400" dirty="0"/>
              <a:t>• DELETE eligible records while respecting referential dependencies.</a:t>
            </a:r>
          </a:p>
          <a:p>
            <a:pPr>
              <a:spcAft>
                <a:spcPts val="1000"/>
              </a:spcAft>
              <a:defRPr sz="1700"/>
            </a:pPr>
            <a:r>
              <a:rPr sz="2400" dirty="0"/>
              <a:t>• Use realistic hospital sample data that supports meaningful project queries.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594143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/>
            </a:pPr>
            <a:r>
              <a:rPr sz="3600" dirty="0"/>
              <a:t>9. DQL – Data Retrieval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881360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469880" cy="2949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rPr sz="2400" dirty="0"/>
              <a:t>• SELECT records from project tables.</a:t>
            </a:r>
          </a:p>
          <a:p>
            <a:pPr>
              <a:spcAft>
                <a:spcPts val="1000"/>
              </a:spcAft>
              <a:defRPr sz="1700"/>
            </a:pPr>
            <a:r>
              <a:rPr sz="2400" dirty="0"/>
              <a:t>• Filter using WHERE.</a:t>
            </a:r>
          </a:p>
          <a:p>
            <a:pPr>
              <a:spcAft>
                <a:spcPts val="1000"/>
              </a:spcAft>
              <a:defRPr sz="1700"/>
            </a:pPr>
            <a:r>
              <a:rPr sz="2400" dirty="0"/>
              <a:t>• Sort using ORDER BY.</a:t>
            </a:r>
          </a:p>
          <a:p>
            <a:pPr>
              <a:spcAft>
                <a:spcPts val="1000"/>
              </a:spcAft>
              <a:defRPr sz="1700"/>
            </a:pPr>
            <a:r>
              <a:rPr sz="2400" dirty="0"/>
              <a:t>• Use DISTINCT, LIKE, BETWEEN, IN, and other required filters.</a:t>
            </a:r>
          </a:p>
          <a:p>
            <a:pPr>
              <a:spcAft>
                <a:spcPts val="1000"/>
              </a:spcAft>
              <a:defRPr sz="1700"/>
            </a:pPr>
            <a:r>
              <a:rPr sz="2400" dirty="0"/>
              <a:t>• Retrieve only the required columns.</a:t>
            </a:r>
          </a:p>
          <a:p>
            <a:pPr>
              <a:spcAft>
                <a:spcPts val="1000"/>
              </a:spcAft>
              <a:defRPr sz="1700"/>
            </a:pPr>
            <a:r>
              <a:rPr sz="2400" dirty="0"/>
              <a:t>• Frame queries as meaningful hospital-management questions.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592924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/>
            </a:pPr>
            <a:r>
              <a:rPr sz="3600" dirty="0"/>
              <a:t>10. SQL Queries – Joins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881360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469880" cy="3447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rPr sz="2400" dirty="0"/>
              <a:t>• Department–Doctor: display doctors with department names.</a:t>
            </a:r>
          </a:p>
          <a:p>
            <a:pPr>
              <a:spcAft>
                <a:spcPts val="1000"/>
              </a:spcAft>
              <a:defRPr sz="1700"/>
            </a:pPr>
            <a:r>
              <a:rPr sz="2400" dirty="0"/>
              <a:t>• Department–Room: display rooms with their departments.</a:t>
            </a:r>
          </a:p>
          <a:p>
            <a:pPr>
              <a:spcAft>
                <a:spcPts val="1000"/>
              </a:spcAft>
              <a:defRPr sz="1700"/>
            </a:pPr>
            <a:r>
              <a:rPr sz="2400" dirty="0"/>
              <a:t>• Department–Staff: display staff with department names.</a:t>
            </a:r>
          </a:p>
          <a:p>
            <a:pPr>
              <a:spcAft>
                <a:spcPts val="1000"/>
              </a:spcAft>
              <a:defRPr sz="1700"/>
            </a:pPr>
            <a:r>
              <a:rPr sz="2400" dirty="0"/>
              <a:t>• Patient–Doctor: combine Appointment with Patient and Doctor details.</a:t>
            </a:r>
          </a:p>
          <a:p>
            <a:pPr>
              <a:spcAft>
                <a:spcPts val="1000"/>
              </a:spcAft>
              <a:defRPr sz="1700"/>
            </a:pPr>
            <a:r>
              <a:rPr sz="2400" dirty="0"/>
              <a:t>• Patient Medical Record: combine </a:t>
            </a:r>
            <a:r>
              <a:rPr sz="2400" dirty="0" err="1"/>
              <a:t>Medical_Record</a:t>
            </a:r>
            <a:r>
              <a:rPr sz="2400" dirty="0"/>
              <a:t>, Patient, and Doctor.</a:t>
            </a:r>
          </a:p>
          <a:p>
            <a:pPr>
              <a:spcAft>
                <a:spcPts val="1000"/>
              </a:spcAft>
              <a:defRPr sz="1700"/>
            </a:pPr>
            <a:r>
              <a:rPr sz="2400" dirty="0"/>
              <a:t>• Prescription Details: combine Prescription with Patient, Doctor, and Medicine.</a:t>
            </a:r>
          </a:p>
          <a:p>
            <a:pPr>
              <a:spcAft>
                <a:spcPts val="1000"/>
              </a:spcAft>
              <a:defRPr sz="1700"/>
            </a:pPr>
            <a:r>
              <a:rPr sz="2400" dirty="0"/>
              <a:t>• Billing Details: combine Billing with Patient information</a:t>
            </a:r>
            <a:r>
              <a:rPr dirty="0"/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672075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/>
            </a:pPr>
            <a:r>
              <a:rPr sz="3200" dirty="0"/>
              <a:t>11. SQL Queries – Aggregate Functions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881360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469880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rPr sz="2400" dirty="0"/>
              <a:t>• COUNT() – count patients, doctors, appointments, medicines, or bills.</a:t>
            </a:r>
          </a:p>
          <a:p>
            <a:pPr>
              <a:spcAft>
                <a:spcPts val="1000"/>
              </a:spcAft>
              <a:defRPr sz="1700"/>
            </a:pPr>
            <a:r>
              <a:rPr sz="2400" dirty="0"/>
              <a:t>• AVG() – calculate average medicine price or other meaningful numeric values.</a:t>
            </a:r>
          </a:p>
          <a:p>
            <a:pPr>
              <a:spcAft>
                <a:spcPts val="1000"/>
              </a:spcAft>
              <a:defRPr sz="1700"/>
            </a:pPr>
            <a:r>
              <a:rPr sz="2400" dirty="0"/>
              <a:t>• MAX() – find maximum medicine price, room charge, or billing amount.</a:t>
            </a:r>
          </a:p>
          <a:p>
            <a:pPr>
              <a:spcAft>
                <a:spcPts val="1000"/>
              </a:spcAft>
              <a:defRPr sz="1700"/>
            </a:pPr>
            <a:r>
              <a:rPr sz="2400" dirty="0"/>
              <a:t>• MIN() – find minimum medicine price, room charge, or billing amount.</a:t>
            </a:r>
          </a:p>
          <a:p>
            <a:pPr>
              <a:spcAft>
                <a:spcPts val="1000"/>
              </a:spcAft>
              <a:defRPr sz="1700"/>
            </a:pPr>
            <a:r>
              <a:rPr sz="2400" dirty="0"/>
              <a:t>• SUM() – calculate total billing or medicine quantities.</a:t>
            </a:r>
          </a:p>
          <a:p>
            <a:pPr>
              <a:spcAft>
                <a:spcPts val="1000"/>
              </a:spcAft>
              <a:defRPr sz="1700"/>
            </a:pPr>
            <a:r>
              <a:rPr sz="2400" dirty="0"/>
              <a:t>• GROUP BY – generate grouped summaries by department, doctor, or other categories.</a:t>
            </a:r>
          </a:p>
          <a:p>
            <a:pPr>
              <a:spcAft>
                <a:spcPts val="1000"/>
              </a:spcAft>
              <a:defRPr sz="1700"/>
            </a:pPr>
            <a:r>
              <a:rPr sz="2400" dirty="0"/>
              <a:t>• HAVING – filter grouped results.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9E9BD0-0782-CE53-C1CE-8D3F20B97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E0DDF1-CE6B-4062-22AB-6388C117737B}"/>
              </a:ext>
            </a:extLst>
          </p:cNvPr>
          <p:cNvSpPr txBox="1"/>
          <p:nvPr/>
        </p:nvSpPr>
        <p:spPr>
          <a:xfrm>
            <a:off x="594360" y="320040"/>
            <a:ext cx="4206601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600" dirty="0"/>
              <a:t>12. CRUD Operations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4F6378-59EC-4A7C-4747-8C4C3F00D9C8}"/>
              </a:ext>
            </a:extLst>
          </p:cNvPr>
          <p:cNvSpPr/>
          <p:nvPr/>
        </p:nvSpPr>
        <p:spPr>
          <a:xfrm>
            <a:off x="594360" y="987552"/>
            <a:ext cx="10881360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6B6563D-5867-8335-BC8A-32A9A661BF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8815777"/>
              </p:ext>
            </p:extLst>
          </p:nvPr>
        </p:nvGraphicFramePr>
        <p:xfrm>
          <a:off x="594360" y="1325880"/>
          <a:ext cx="10881360" cy="448056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96112">
                <a:tc>
                  <a:txBody>
                    <a:bodyPr/>
                    <a:lstStyle/>
                    <a:p>
                      <a:pPr algn="ctr">
                        <a:defRPr sz="1500" b="1"/>
                      </a:pPr>
                      <a:r>
                        <a:rPr sz="2000" dirty="0"/>
                        <a:t>Operation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 b="1"/>
                      </a:pPr>
                      <a:r>
                        <a:rPr sz="2000"/>
                        <a:t>SQL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 b="1"/>
                      </a:pPr>
                      <a:r>
                        <a:rPr sz="2000"/>
                        <a:t>Project 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2000" dirty="0"/>
                        <a:t>Create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2000"/>
                        <a:t>INSERT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2000"/>
                        <a:t>Add a new patient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2000" dirty="0"/>
                        <a:t>Read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2000"/>
                        <a:t>SELECT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2000"/>
                        <a:t>Retrieve patient details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2000" dirty="0"/>
                        <a:t>Update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2000" dirty="0"/>
                        <a:t>UPDATE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2000"/>
                        <a:t>Modify patient or medicine information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2000"/>
                        <a:t>Delete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2000" dirty="0"/>
                        <a:t>DELETE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2000" dirty="0"/>
                        <a:t>Delete an eligible appointment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73310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2022926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/>
            </a:pPr>
            <a:r>
              <a:rPr sz="3600" dirty="0"/>
              <a:t>13. Views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881360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469880" cy="24519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rPr sz="2400" dirty="0"/>
              <a:t>• Create a view for frequently required hospital information.</a:t>
            </a:r>
          </a:p>
          <a:p>
            <a:pPr>
              <a:spcAft>
                <a:spcPts val="1000"/>
              </a:spcAft>
              <a:defRPr sz="1700"/>
            </a:pPr>
            <a:r>
              <a:rPr sz="2400" dirty="0"/>
              <a:t>• Example: Patient name + Doctor name + Appointment date + Status.</a:t>
            </a:r>
          </a:p>
          <a:p>
            <a:pPr>
              <a:spcAft>
                <a:spcPts val="1000"/>
              </a:spcAft>
              <a:defRPr sz="1700"/>
            </a:pPr>
            <a:r>
              <a:rPr sz="2400" dirty="0"/>
              <a:t>• Example: Patient name + Diagnosis + Treatment + Record date.</a:t>
            </a:r>
          </a:p>
          <a:p>
            <a:pPr>
              <a:spcAft>
                <a:spcPts val="1000"/>
              </a:spcAft>
              <a:defRPr sz="1700"/>
            </a:pPr>
            <a:r>
              <a:rPr sz="2400" dirty="0"/>
              <a:t>• Retrieve data from the view using SELECT.</a:t>
            </a:r>
          </a:p>
          <a:p>
            <a:pPr>
              <a:spcAft>
                <a:spcPts val="1000"/>
              </a:spcAft>
              <a:defRPr sz="1700"/>
            </a:pPr>
            <a:r>
              <a:rPr sz="2400" dirty="0"/>
              <a:t>• Explain why the view is useful for quick reporting and repeated queries.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C5352-178C-8E39-70E2-540D5DE0B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FE1DA3D-34EB-A81B-619D-B04D03DC3BC0}"/>
              </a:ext>
            </a:extLst>
          </p:cNvPr>
          <p:cNvSpPr txBox="1"/>
          <p:nvPr/>
        </p:nvSpPr>
        <p:spPr>
          <a:xfrm>
            <a:off x="594360" y="320040"/>
            <a:ext cx="6391109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600" dirty="0"/>
              <a:t>14. Data Integrity and Validation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7EEF621-E550-38BC-E930-C1AD1D262962}"/>
              </a:ext>
            </a:extLst>
          </p:cNvPr>
          <p:cNvSpPr/>
          <p:nvPr/>
        </p:nvSpPr>
        <p:spPr>
          <a:xfrm>
            <a:off x="594360" y="987552"/>
            <a:ext cx="10881360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C8E5E61-1BA3-9D1C-ABDB-D9DAB89263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3158186"/>
              </p:ext>
            </p:extLst>
          </p:nvPr>
        </p:nvGraphicFramePr>
        <p:xfrm>
          <a:off x="594360" y="1325880"/>
          <a:ext cx="10881360" cy="45415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sz="1500" b="1"/>
                      </a:pPr>
                      <a:r>
                        <a:rPr sz="2000" dirty="0"/>
                        <a:t>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 b="1"/>
                      </a:pPr>
                      <a:r>
                        <a:rPr sz="2000"/>
                        <a:t>How it is maintained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 b="1"/>
                      </a:pPr>
                      <a:r>
                        <a:rPr sz="2000"/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2000" dirty="0"/>
                        <a:t>Entity integrity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2000"/>
                        <a:t>Primary keys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2000"/>
                        <a:t>Unique Patient_ID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2000" dirty="0"/>
                        <a:t>Referential integrity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2000"/>
                        <a:t>Foreign keys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2000"/>
                        <a:t>Doctor.Department_ID references Department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2000" dirty="0"/>
                        <a:t>Uniqueness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2000"/>
                        <a:t>UNIQUE constraints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2000"/>
                        <a:t>Phone, Email, Room_Number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2000" dirty="0"/>
                        <a:t>Mandatory fields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2000"/>
                        <a:t>NOT 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2000"/>
                        <a:t>Patient_Name, DOB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2000"/>
                        <a:t>Domain 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2000" dirty="0"/>
                        <a:t>CHECK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2000"/>
                        <a:t>Quantity &gt;= 0; Unit_Price &gt;= 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2000"/>
                        <a:t>Default values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2000" dirty="0"/>
                        <a:t>DEFAULT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2000" dirty="0"/>
                        <a:t>Appointment Status = Scheduled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94193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8394606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/>
            </a:pPr>
            <a:r>
              <a:rPr sz="4000" dirty="0"/>
              <a:t>16. Query Coverage for Demonstration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881360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17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DFFB7B9-778E-CCC6-C39E-390CF4C86C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4951701"/>
              </p:ext>
            </p:extLst>
          </p:nvPr>
        </p:nvGraphicFramePr>
        <p:xfrm>
          <a:off x="594360" y="1325880"/>
          <a:ext cx="10881360" cy="448056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440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40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7840">
                <a:tc>
                  <a:txBody>
                    <a:bodyPr/>
                    <a:lstStyle/>
                    <a:p>
                      <a:pPr algn="ctr">
                        <a:defRPr sz="1500" b="1"/>
                      </a:pPr>
                      <a:r>
                        <a:rPr sz="2000" dirty="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 b="1"/>
                      </a:pPr>
                      <a:r>
                        <a:rPr sz="2000"/>
                        <a:t>Demonstration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2000" dirty="0"/>
                        <a:t>Basic SELECT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2000"/>
                        <a:t>3–5 queries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2000" dirty="0"/>
                        <a:t>Filtering / Sorting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2000"/>
                        <a:t>3–5 queries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2000" dirty="0"/>
                        <a:t>Joins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2000"/>
                        <a:t>5+ meaningful joins / multi-table queries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2000" dirty="0"/>
                        <a:t>Aggregation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2000"/>
                        <a:t>5+ COUNT, AVG, MIN, MAX, SUM queries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2000"/>
                        <a:t>GROUP BY / HAVING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2000"/>
                        <a:t>2–3 queries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2000" dirty="0"/>
                        <a:t>CRUD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2000"/>
                        <a:t>At least one example for each operation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2000" dirty="0"/>
                        <a:t>Views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2000" dirty="0"/>
                        <a:t>1–2 meaningful views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2000"/>
                        <a:t>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2000" dirty="0"/>
                        <a:t>At least 2 constraint demonstrations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6336606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/>
            </a:pPr>
            <a:r>
              <a:rPr sz="3600" dirty="0"/>
              <a:t>15. SQL Output and Screenshots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881360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469880" cy="3318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rPr sz="2400" dirty="0"/>
              <a:t>• Show database and table creation screenshots.</a:t>
            </a:r>
          </a:p>
          <a:p>
            <a:pPr>
              <a:spcAft>
                <a:spcPts val="1000"/>
              </a:spcAft>
              <a:defRPr sz="1700"/>
            </a:pPr>
            <a:r>
              <a:rPr sz="2400" dirty="0"/>
              <a:t>• Show sample records inserted into each table.</a:t>
            </a:r>
          </a:p>
          <a:p>
            <a:pPr>
              <a:spcAft>
                <a:spcPts val="1000"/>
              </a:spcAft>
              <a:defRPr sz="1700"/>
            </a:pPr>
            <a:r>
              <a:rPr sz="2400" dirty="0"/>
              <a:t>• Show important DDL, DML, and DQL outputs.</a:t>
            </a:r>
          </a:p>
          <a:p>
            <a:pPr>
              <a:spcAft>
                <a:spcPts val="1000"/>
              </a:spcAft>
              <a:defRPr sz="1700"/>
            </a:pPr>
            <a:r>
              <a:rPr sz="2400" dirty="0"/>
              <a:t>• Include screenshots for joins, aggregates, CRUD operations, and views.</a:t>
            </a:r>
          </a:p>
          <a:p>
            <a:pPr>
              <a:spcAft>
                <a:spcPts val="1000"/>
              </a:spcAft>
              <a:defRPr sz="1700"/>
            </a:pPr>
            <a:r>
              <a:rPr sz="2400" dirty="0"/>
              <a:t>• Show validation/error results where useful, such as duplicate values or invalid foreign-key references.</a:t>
            </a:r>
          </a:p>
          <a:p>
            <a:pPr>
              <a:spcAft>
                <a:spcPts val="1000"/>
              </a:spcAft>
              <a:defRPr sz="1700"/>
            </a:pPr>
            <a:r>
              <a:rPr sz="2400" dirty="0"/>
              <a:t>• Replace documentation placeholders with actual screenshots.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/>
            </a:pPr>
            <a:r>
              <a:rPr sz="3600" dirty="0"/>
              <a:t>17. Live Database Demonstration – Recommended Order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881360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469880" cy="4939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rPr sz="2400" dirty="0"/>
              <a:t>• 1. Open the </a:t>
            </a:r>
            <a:r>
              <a:rPr sz="2400" dirty="0" err="1"/>
              <a:t>Hospital_Management_System</a:t>
            </a:r>
            <a:r>
              <a:rPr sz="2400" dirty="0"/>
              <a:t> database.</a:t>
            </a:r>
          </a:p>
          <a:p>
            <a:pPr>
              <a:spcAft>
                <a:spcPts val="1000"/>
              </a:spcAft>
              <a:defRPr sz="1700"/>
            </a:pPr>
            <a:r>
              <a:rPr sz="2400" dirty="0"/>
              <a:t>• 2. Show the ten tables and their relationships.</a:t>
            </a:r>
          </a:p>
          <a:p>
            <a:pPr>
              <a:spcAft>
                <a:spcPts val="1000"/>
              </a:spcAft>
              <a:defRPr sz="1700"/>
            </a:pPr>
            <a:r>
              <a:rPr sz="2400" dirty="0"/>
              <a:t>• 3. Show table structures and constraints.</a:t>
            </a:r>
          </a:p>
          <a:p>
            <a:pPr>
              <a:spcAft>
                <a:spcPts val="1000"/>
              </a:spcAft>
              <a:defRPr sz="1700"/>
            </a:pPr>
            <a:r>
              <a:rPr sz="2400" dirty="0"/>
              <a:t>• 4. Display inserted sample data.</a:t>
            </a:r>
          </a:p>
          <a:p>
            <a:pPr>
              <a:spcAft>
                <a:spcPts val="1000"/>
              </a:spcAft>
              <a:defRPr sz="1700"/>
            </a:pPr>
            <a:r>
              <a:rPr sz="2400" dirty="0"/>
              <a:t>• 5. Demonstrate DDL, DML, and DQL.</a:t>
            </a:r>
          </a:p>
          <a:p>
            <a:pPr>
              <a:spcAft>
                <a:spcPts val="1000"/>
              </a:spcAft>
              <a:defRPr sz="1700"/>
            </a:pPr>
            <a:r>
              <a:rPr sz="2400" dirty="0"/>
              <a:t>• 6. Demonstrate CRUD operations.</a:t>
            </a:r>
          </a:p>
          <a:p>
            <a:pPr>
              <a:spcAft>
                <a:spcPts val="1000"/>
              </a:spcAft>
              <a:defRPr sz="1700"/>
            </a:pPr>
            <a:r>
              <a:rPr sz="2400" dirty="0"/>
              <a:t>• 7. Run joins and aggregate queries.</a:t>
            </a:r>
          </a:p>
          <a:p>
            <a:pPr>
              <a:spcAft>
                <a:spcPts val="1000"/>
              </a:spcAft>
              <a:defRPr sz="1700"/>
            </a:pPr>
            <a:r>
              <a:rPr sz="2400" dirty="0"/>
              <a:t>• 8. Demonstrate a view.</a:t>
            </a:r>
          </a:p>
          <a:p>
            <a:pPr>
              <a:spcAft>
                <a:spcPts val="1000"/>
              </a:spcAft>
              <a:defRPr sz="1700"/>
            </a:pPr>
            <a:r>
              <a:rPr sz="2400" dirty="0"/>
              <a:t>• 9. Demonstrate validation / integrity.</a:t>
            </a:r>
          </a:p>
          <a:p>
            <a:pPr>
              <a:spcAft>
                <a:spcPts val="1000"/>
              </a:spcAft>
              <a:defRPr sz="1700"/>
            </a:pPr>
            <a:r>
              <a:rPr sz="2400" dirty="0"/>
              <a:t>• 10. Explain normalization up to 3NF and answer questions.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2972289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/>
            </a:pPr>
            <a:r>
              <a:rPr sz="3600" dirty="0"/>
              <a:t>18. 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881360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469880" cy="39292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rPr sz="2400" dirty="0"/>
              <a:t>• The implemented database follows the hospital-management design developed for the project.</a:t>
            </a:r>
          </a:p>
          <a:p>
            <a:pPr>
              <a:spcAft>
                <a:spcPts val="1000"/>
              </a:spcAft>
              <a:defRPr sz="1700"/>
            </a:pPr>
            <a:r>
              <a:rPr sz="2400" dirty="0"/>
              <a:t>• The ten related tables organize departments, patients, doctors, appointments, medical records, medicines, prescriptions, billing, rooms, and staff.</a:t>
            </a:r>
          </a:p>
          <a:p>
            <a:pPr>
              <a:spcAft>
                <a:spcPts val="1000"/>
              </a:spcAft>
              <a:defRPr sz="1700"/>
            </a:pPr>
            <a:r>
              <a:rPr sz="2400" dirty="0"/>
              <a:t>• Constraints and normalization up to 3NF support data integrity and reduce redundancy.</a:t>
            </a:r>
          </a:p>
          <a:p>
            <a:pPr>
              <a:spcAft>
                <a:spcPts val="1000"/>
              </a:spcAft>
              <a:defRPr sz="1700"/>
            </a:pPr>
            <a:r>
              <a:rPr sz="2400" dirty="0"/>
              <a:t>• SQL operations demonstrate creation, modification, retrieval, CRUD, joins, aggregation, views, transactions, and reporting.</a:t>
            </a:r>
          </a:p>
          <a:p>
            <a:pPr>
              <a:spcAft>
                <a:spcPts val="1000"/>
              </a:spcAft>
              <a:defRPr sz="1700"/>
            </a:pPr>
            <a:r>
              <a:rPr sz="2400" dirty="0"/>
              <a:t>• The database provides a foundation for future hospital-management features.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5603522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/>
            </a:pPr>
            <a:r>
              <a:rPr sz="4000" dirty="0"/>
              <a:t>19. Future Enhancements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881360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469880" cy="3447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rPr sz="2400" dirty="0"/>
              <a:t>• Role-based access for administrators, doctors, staff, and authorized users.</a:t>
            </a:r>
          </a:p>
          <a:p>
            <a:pPr>
              <a:spcAft>
                <a:spcPts val="1000"/>
              </a:spcAft>
              <a:defRPr sz="1700"/>
            </a:pPr>
            <a:r>
              <a:rPr sz="2400" dirty="0"/>
              <a:t>• Online appointment scheduling and notifications.</a:t>
            </a:r>
          </a:p>
          <a:p>
            <a:pPr>
              <a:spcAft>
                <a:spcPts val="1000"/>
              </a:spcAft>
              <a:defRPr sz="1700"/>
            </a:pPr>
            <a:r>
              <a:rPr sz="2400" dirty="0"/>
              <a:t>• Patient admission, discharge, and room-allocation management.</a:t>
            </a:r>
          </a:p>
          <a:p>
            <a:pPr>
              <a:spcAft>
                <a:spcPts val="1000"/>
              </a:spcAft>
              <a:defRPr sz="1700"/>
            </a:pPr>
            <a:r>
              <a:rPr sz="2400" dirty="0"/>
              <a:t>• Advanced pharmacy and medicine-stock alerts.</a:t>
            </a:r>
          </a:p>
          <a:p>
            <a:pPr>
              <a:spcAft>
                <a:spcPts val="1000"/>
              </a:spcAft>
              <a:defRPr sz="1700"/>
            </a:pPr>
            <a:r>
              <a:rPr sz="2400" dirty="0"/>
              <a:t>• Automated reports and analytics dashboards.</a:t>
            </a:r>
          </a:p>
          <a:p>
            <a:pPr>
              <a:spcAft>
                <a:spcPts val="1000"/>
              </a:spcAft>
              <a:defRPr sz="1700"/>
            </a:pPr>
            <a:r>
              <a:rPr sz="2400" dirty="0"/>
              <a:t>• Backup, recovery, audit logging, and stronger database security.</a:t>
            </a:r>
          </a:p>
          <a:p>
            <a:pPr>
              <a:spcAft>
                <a:spcPts val="1000"/>
              </a:spcAft>
              <a:defRPr sz="1700"/>
            </a:pPr>
            <a:r>
              <a:rPr sz="2400" dirty="0"/>
              <a:t>• Web or mobile application interface.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3290837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/>
            </a:pPr>
            <a:r>
              <a:rPr sz="4000" dirty="0"/>
              <a:t>20. 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881360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469880" cy="2323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rPr sz="2400" dirty="0"/>
              <a:t>• Korth, H. F., Silberschatz, A., and Sudarshan, S., Database System Concepts, McGraw Hill.</a:t>
            </a:r>
          </a:p>
          <a:p>
            <a:pPr>
              <a:spcAft>
                <a:spcPts val="1000"/>
              </a:spcAft>
              <a:defRPr sz="1700"/>
            </a:pPr>
            <a:r>
              <a:rPr sz="2400" dirty="0"/>
              <a:t>• Elmasri, R. and Navathe, R., Fundamentals of Database Systems, Pearson.</a:t>
            </a:r>
          </a:p>
          <a:p>
            <a:pPr>
              <a:spcAft>
                <a:spcPts val="1000"/>
              </a:spcAft>
              <a:defRPr sz="1700"/>
            </a:pPr>
            <a:r>
              <a:rPr sz="2400" dirty="0"/>
              <a:t>• MySQL documentation and course lecture notes.</a:t>
            </a:r>
          </a:p>
          <a:p>
            <a:pPr>
              <a:spcAft>
                <a:spcPts val="1000"/>
              </a:spcAft>
              <a:defRPr sz="1700"/>
            </a:pPr>
            <a:r>
              <a:rPr sz="2400" dirty="0"/>
              <a:t>• Laboratory exercises and approved DBMS learning resources.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5643853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/>
            </a:pPr>
            <a:r>
              <a:rPr sz="4000" dirty="0"/>
              <a:t>21. Final Review Checklist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881360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22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AAC523A-C34F-B9F2-5F2F-05C50EA939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4670578"/>
              </p:ext>
            </p:extLst>
          </p:nvPr>
        </p:nvGraphicFramePr>
        <p:xfrm>
          <a:off x="457200" y="1600200"/>
          <a:ext cx="10881360" cy="501396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440680">
                  <a:extLst>
                    <a:ext uri="{9D8B030D-6E8A-4147-A177-3AD203B41FA5}">
                      <a16:colId xmlns:a16="http://schemas.microsoft.com/office/drawing/2014/main" val="3203970350"/>
                    </a:ext>
                  </a:extLst>
                </a:gridCol>
                <a:gridCol w="5440680">
                  <a:extLst>
                    <a:ext uri="{9D8B030D-6E8A-4147-A177-3AD203B41FA5}">
                      <a16:colId xmlns:a16="http://schemas.microsoft.com/office/drawing/2014/main" val="4126735849"/>
                    </a:ext>
                  </a:extLst>
                </a:gridCol>
              </a:tblGrid>
              <a:tr h="373380">
                <a:tc>
                  <a:txBody>
                    <a:bodyPr/>
                    <a:lstStyle/>
                    <a:p>
                      <a:pPr algn="ctr">
                        <a:defRPr sz="1500" b="1"/>
                      </a:pPr>
                      <a:r>
                        <a:rPr sz="1800" dirty="0"/>
                        <a:t>Review 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 b="1"/>
                      </a:pPr>
                      <a:r>
                        <a:rPr sz="1800"/>
                        <a:t>What students must demonstrate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876132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1800" dirty="0"/>
                        <a:t>Database 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1800"/>
                        <a:t>Title, problem, objectives, ER diagram, relational schema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8050551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1800" dirty="0"/>
                        <a:t>Implementation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1800"/>
                        <a:t>Database and all ten project tables created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7737023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1800" dirty="0"/>
                        <a:t>Constraints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1800"/>
                        <a:t>PK, FK, NOT NULL, UNIQUE, CHECK / DEFAULT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0418169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1800" dirty="0"/>
                        <a:t>Sample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1800"/>
                        <a:t>All tables populated with valid records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2577428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1800" dirty="0"/>
                        <a:t>SQL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1800"/>
                        <a:t>DDL, DML, DQL demonstrated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0204375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1800" dirty="0"/>
                        <a:t>CRUD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1800"/>
                        <a:t>Create, Read, Update, Delete demonstrated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9571881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1800" dirty="0"/>
                        <a:t>Queries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1800"/>
                        <a:t>Joins, aggregates, GROUP BY / HAVING, views, subqueries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3819790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1800" dirty="0"/>
                        <a:t>Normalization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1800"/>
                        <a:t>UNF → 1NF → 2NF → 3NF explained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6341861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1800" dirty="0"/>
                        <a:t>Integrity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1800" dirty="0"/>
                        <a:t>Duplicate IDs, invalid references, invalid values tested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7051200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1800"/>
                        <a:t>Documentation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1800" dirty="0"/>
                        <a:t>ER diagram, schema, SQL, outputs and screenshots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5919574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1800"/>
                        <a:t>Presentation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rPr sz="1800" dirty="0"/>
                        <a:t>Working database demonstrated live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249215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1778</Words>
  <Application>Microsoft Office PowerPoint</Application>
  <PresentationFormat>Widescreen</PresentationFormat>
  <Paragraphs>291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</dc:creator>
  <cp:keywords/>
  <dc:description>generated using python-pptx</dc:description>
  <cp:lastModifiedBy>vijaya durga karri</cp:lastModifiedBy>
  <cp:revision>3</cp:revision>
  <dcterms:created xsi:type="dcterms:W3CDTF">2013-01-27T09:14:16Z</dcterms:created>
  <dcterms:modified xsi:type="dcterms:W3CDTF">2026-09-27T13:53:39Z</dcterms:modified>
  <cp:category/>
</cp:coreProperties>
</file>