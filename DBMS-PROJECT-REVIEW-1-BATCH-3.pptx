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2" r:id="rId3"/>
    <p:sldId id="257" r:id="rId4"/>
    <p:sldId id="263" r:id="rId5"/>
    <p:sldId id="264" r:id="rId6"/>
    <p:sldId id="265" r:id="rId7"/>
    <p:sldId id="266" r:id="rId8"/>
    <p:sldId id="271" r:id="rId9"/>
    <p:sldId id="267" r:id="rId10"/>
    <p:sldId id="268"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FAF51B-B4DE-44CC-B7AF-82C0EED823EC}" v="8" dt="2026-09-13T14:31:32.7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a durga karri" userId="03e22918121a1978" providerId="LiveId" clId="{C4E8D7EE-0E44-452B-929D-0DE37D848981}"/>
    <pc:docChg chg="undo custSel modSld">
      <pc:chgData name="vijaya durga karri" userId="03e22918121a1978" providerId="LiveId" clId="{C4E8D7EE-0E44-452B-929D-0DE37D848981}" dt="2026-09-13T14:34:50.216" v="943" actId="478"/>
      <pc:docMkLst>
        <pc:docMk/>
      </pc:docMkLst>
      <pc:sldChg chg="delSp mod">
        <pc:chgData name="vijaya durga karri" userId="03e22918121a1978" providerId="LiveId" clId="{C4E8D7EE-0E44-452B-929D-0DE37D848981}" dt="2026-09-13T14:34:50.216" v="943" actId="478"/>
        <pc:sldMkLst>
          <pc:docMk/>
          <pc:sldMk cId="4263979063" sldId="268"/>
        </pc:sldMkLst>
        <pc:picChg chg="del">
          <ac:chgData name="vijaya durga karri" userId="03e22918121a1978" providerId="LiveId" clId="{C4E8D7EE-0E44-452B-929D-0DE37D848981}" dt="2026-09-13T14:34:50.216" v="943" actId="478"/>
          <ac:picMkLst>
            <pc:docMk/>
            <pc:sldMk cId="4263979063" sldId="268"/>
            <ac:picMk id="5" creationId="{18DE32D5-AFE6-73CD-25BE-F49AA340468C}"/>
          </ac:picMkLst>
        </pc:picChg>
      </pc:sldChg>
      <pc:sldChg chg="addSp delSp modSp mod">
        <pc:chgData name="vijaya durga karri" userId="03e22918121a1978" providerId="LiveId" clId="{C4E8D7EE-0E44-452B-929D-0DE37D848981}" dt="2026-09-13T14:34:41.706" v="942" actId="20577"/>
        <pc:sldMkLst>
          <pc:docMk/>
          <pc:sldMk cId="792732739" sldId="271"/>
        </pc:sldMkLst>
        <pc:graphicFrameChg chg="add mod modGraphic">
          <ac:chgData name="vijaya durga karri" userId="03e22918121a1978" providerId="LiveId" clId="{C4E8D7EE-0E44-452B-929D-0DE37D848981}" dt="2026-09-13T14:34:41.706" v="942" actId="20577"/>
          <ac:graphicFrameMkLst>
            <pc:docMk/>
            <pc:sldMk cId="792732739" sldId="271"/>
            <ac:graphicFrameMk id="2" creationId="{6E0DF3E0-D58E-661B-7285-0FFC9CBE7FDF}"/>
          </ac:graphicFrameMkLst>
        </pc:graphicFrameChg>
        <pc:picChg chg="del">
          <ac:chgData name="vijaya durga karri" userId="03e22918121a1978" providerId="LiveId" clId="{C4E8D7EE-0E44-452B-929D-0DE37D848981}" dt="2026-09-13T14:11:12.027" v="0" actId="478"/>
          <ac:picMkLst>
            <pc:docMk/>
            <pc:sldMk cId="792732739" sldId="271"/>
            <ac:picMk id="14" creationId="{68E3374E-83CA-235A-2EEF-3F72FF245ED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B7F030-BE55-4C2C-AAE4-B5FF7015E626}" type="datetimeFigureOut">
              <a:rPr lang="en-IN" smtClean="0"/>
              <a:t>13-09-2026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93262A-C0AB-4017-9690-6B66CF1E95B2}" type="slidenum">
              <a:rPr lang="en-IN" smtClean="0"/>
              <a:t>‹#›</a:t>
            </a:fld>
            <a:endParaRPr lang="en-IN"/>
          </a:p>
        </p:txBody>
      </p:sp>
    </p:spTree>
    <p:extLst>
      <p:ext uri="{BB962C8B-B14F-4D97-AF65-F5344CB8AC3E}">
        <p14:creationId xmlns:p14="http://schemas.microsoft.com/office/powerpoint/2010/main" val="1402351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93262A-C0AB-4017-9690-6B66CF1E95B2}" type="slidenum">
              <a:rPr lang="en-IN" smtClean="0"/>
              <a:t>9</a:t>
            </a:fld>
            <a:endParaRPr lang="en-IN"/>
          </a:p>
        </p:txBody>
      </p:sp>
    </p:spTree>
    <p:extLst>
      <p:ext uri="{BB962C8B-B14F-4D97-AF65-F5344CB8AC3E}">
        <p14:creationId xmlns:p14="http://schemas.microsoft.com/office/powerpoint/2010/main" val="41267204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AC9EA-A1EF-CBC4-F1C8-BE70DF3C3C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FB2B27E-1B75-E41E-D3DF-71D0C7C97D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23DC92-B512-7368-B7A2-C4BF4172EDCC}"/>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5" name="Footer Placeholder 4">
            <a:extLst>
              <a:ext uri="{FF2B5EF4-FFF2-40B4-BE49-F238E27FC236}">
                <a16:creationId xmlns:a16="http://schemas.microsoft.com/office/drawing/2014/main" id="{BEA5B852-7BFF-040B-8BEC-CFDA1B06AC9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D899787-CA46-41BD-F7C7-138B0D633539}"/>
              </a:ext>
            </a:extLst>
          </p:cNvPr>
          <p:cNvSpPr>
            <a:spLocks noGrp="1"/>
          </p:cNvSpPr>
          <p:nvPr>
            <p:ph type="sldNum" sz="quarter" idx="12"/>
          </p:nvPr>
        </p:nvSpPr>
        <p:spPr/>
        <p:txBody>
          <a:bodyPr/>
          <a:lstStyle/>
          <a:p>
            <a:fld id="{B81345A3-0E30-438E-929C-F69629311553}" type="slidenum">
              <a:rPr lang="en-IN" smtClean="0"/>
              <a:t>‹#›</a:t>
            </a:fld>
            <a:endParaRPr lang="en-IN"/>
          </a:p>
        </p:txBody>
      </p:sp>
      <p:pic>
        <p:nvPicPr>
          <p:cNvPr id="10" name="Picture 9">
            <a:extLst>
              <a:ext uri="{FF2B5EF4-FFF2-40B4-BE49-F238E27FC236}">
                <a16:creationId xmlns:a16="http://schemas.microsoft.com/office/drawing/2014/main" id="{BAC61F1D-5831-E6C0-A8E8-AB407AC05D3B}"/>
              </a:ext>
            </a:extLst>
          </p:cNvPr>
          <p:cNvPicPr>
            <a:picLocks noChangeAspect="1"/>
          </p:cNvPicPr>
          <p:nvPr userDrawn="1"/>
        </p:nvPicPr>
        <p:blipFill>
          <a:blip r:embed="rId2"/>
          <a:stretch>
            <a:fillRect/>
          </a:stretch>
        </p:blipFill>
        <p:spPr>
          <a:xfrm>
            <a:off x="42560" y="37882"/>
            <a:ext cx="2812607" cy="1013775"/>
          </a:xfrm>
          <a:prstGeom prst="rect">
            <a:avLst/>
          </a:prstGeom>
        </p:spPr>
      </p:pic>
    </p:spTree>
    <p:extLst>
      <p:ext uri="{BB962C8B-B14F-4D97-AF65-F5344CB8AC3E}">
        <p14:creationId xmlns:p14="http://schemas.microsoft.com/office/powerpoint/2010/main" val="10852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F0437-4653-50B4-FEE8-B4516682DF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ED97E4-51E2-19F3-3140-6B0B65C4FA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211F8D-DDFE-6329-17EE-238F47F6CA48}"/>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5" name="Footer Placeholder 4">
            <a:extLst>
              <a:ext uri="{FF2B5EF4-FFF2-40B4-BE49-F238E27FC236}">
                <a16:creationId xmlns:a16="http://schemas.microsoft.com/office/drawing/2014/main" id="{49847EF0-9AC1-CACC-48B3-E42D13F015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C53A81-015E-8C6E-4F81-E32FC793E42E}"/>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2285928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2C68-8E5C-4B5B-2F03-89326A9CC2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B868B1-1874-8627-F102-76CCC8FB76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E16FFC-94A2-D415-B26D-21C5681ACB81}"/>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5" name="Footer Placeholder 4">
            <a:extLst>
              <a:ext uri="{FF2B5EF4-FFF2-40B4-BE49-F238E27FC236}">
                <a16:creationId xmlns:a16="http://schemas.microsoft.com/office/drawing/2014/main" id="{7DACB610-3D37-2272-43F6-6A513D86F8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21159A-2693-FD70-C0DC-9BD151792DAC}"/>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457484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D6441-C477-ECA3-CB1F-9EF74DD7A4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2DDB16-9C9C-39A9-4CF5-BB0FE1EDB8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DD0CC50-ACFF-8E8C-A357-C20516C201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924072-A068-BE68-716E-16AC98397570}"/>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6" name="Footer Placeholder 5">
            <a:extLst>
              <a:ext uri="{FF2B5EF4-FFF2-40B4-BE49-F238E27FC236}">
                <a16:creationId xmlns:a16="http://schemas.microsoft.com/office/drawing/2014/main" id="{C0124882-B504-C7FB-2046-3EA1373844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0DD8A9-F5C2-FB78-FB58-595B22095D1A}"/>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1195175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A302F-985C-C1F9-FC36-6B9E45FAD2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D77D02-29D5-25AF-FA46-AEAA24440C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9861E7-6AC1-B1F0-D9D4-6FA685F9E5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869194-AEB0-A4BF-5445-DD485FC95D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7E059C-777B-17DE-5858-49F4B5C145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A7C7F31-E1CC-C088-608F-784299FA921D}"/>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8" name="Footer Placeholder 7">
            <a:extLst>
              <a:ext uri="{FF2B5EF4-FFF2-40B4-BE49-F238E27FC236}">
                <a16:creationId xmlns:a16="http://schemas.microsoft.com/office/drawing/2014/main" id="{41089C90-C810-A156-365D-5E8CB8B1C60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4A0C7D-4D8C-34D6-936F-B274350F6EB4}"/>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1883815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8C48B-28B7-FBF4-A9E3-BFE2BC29F6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A98A7BA-3A01-DA75-E312-66E20D0F6209}"/>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4" name="Footer Placeholder 3">
            <a:extLst>
              <a:ext uri="{FF2B5EF4-FFF2-40B4-BE49-F238E27FC236}">
                <a16:creationId xmlns:a16="http://schemas.microsoft.com/office/drawing/2014/main" id="{511235FD-D92F-D055-616E-616A8669A5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6FCE14-CB25-F85E-9B96-BEE35490D711}"/>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255119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B2B791-D016-9335-F3D8-DC5806EAB84F}"/>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3" name="Footer Placeholder 2">
            <a:extLst>
              <a:ext uri="{FF2B5EF4-FFF2-40B4-BE49-F238E27FC236}">
                <a16:creationId xmlns:a16="http://schemas.microsoft.com/office/drawing/2014/main" id="{0ED78673-AD62-17BF-E7EB-341C63EC096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31FAFC0-2A40-BBA0-5FD1-7924B42A1B7D}"/>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24687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8FDB3-F051-9FE5-C578-BE24E5C390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BB76D56-6181-89D9-BE99-9FFA43C0B9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2047764-DE5A-B88A-9E33-31B8115096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DD0A12-99AD-7A7F-DE1F-7AEDB61593C9}"/>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6" name="Footer Placeholder 5">
            <a:extLst>
              <a:ext uri="{FF2B5EF4-FFF2-40B4-BE49-F238E27FC236}">
                <a16:creationId xmlns:a16="http://schemas.microsoft.com/office/drawing/2014/main" id="{4B220EEE-78F7-47F3-009A-0B5E034D71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2ED58E-3565-4940-E674-E17CD8E231C9}"/>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3169994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95DB8-8CB5-5407-6850-82D727C37E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8CCA911-450A-88A4-8AEA-C8310E84B6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618AC5-E813-0C1D-D55E-0DB27323BF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BE3871-CB8E-F540-A4EB-1BB548FDD750}"/>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6" name="Footer Placeholder 5">
            <a:extLst>
              <a:ext uri="{FF2B5EF4-FFF2-40B4-BE49-F238E27FC236}">
                <a16:creationId xmlns:a16="http://schemas.microsoft.com/office/drawing/2014/main" id="{D16D1D4A-9DEB-9DA1-43B1-BCF9B01E8D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F5ADFF-BCEB-FC93-24BF-415893F0C6A4}"/>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1734700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C1A70-B033-0AB8-5BF9-B19E15522F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EDD441-83C8-5575-1192-850C9A0CFA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42B00B-D7B8-E0FA-B201-F3965573504F}"/>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5" name="Footer Placeholder 4">
            <a:extLst>
              <a:ext uri="{FF2B5EF4-FFF2-40B4-BE49-F238E27FC236}">
                <a16:creationId xmlns:a16="http://schemas.microsoft.com/office/drawing/2014/main" id="{665F3AEC-D438-71A5-E68D-9F0F1710A3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51D808-A8E6-CF25-6BDD-1F04A2559755}"/>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3642997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920864-04B0-6076-3DC3-E0B4285C5D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9646EC-A2FF-0F50-C627-B5A4588F16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E5638C-4AA1-EF13-2154-7BA0570C79A3}"/>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5" name="Footer Placeholder 4">
            <a:extLst>
              <a:ext uri="{FF2B5EF4-FFF2-40B4-BE49-F238E27FC236}">
                <a16:creationId xmlns:a16="http://schemas.microsoft.com/office/drawing/2014/main" id="{2A2D9D39-A13E-6870-9AF1-0E8034BD3C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2C3903-22C5-2268-B9AA-87C3B40D3EBD}"/>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3272576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75CC-474B-B45D-DCAE-D74C5FB103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97A292-9D31-A886-699D-EB5EC1C106D0}"/>
              </a:ext>
            </a:extLst>
          </p:cNvPr>
          <p:cNvSpPr>
            <a:spLocks noGrp="1"/>
          </p:cNvSpPr>
          <p:nvPr>
            <p:ph type="dt" sz="half" idx="10"/>
          </p:nvPr>
        </p:nvSpPr>
        <p:spPr/>
        <p:txBody>
          <a:bodyPr/>
          <a:lstStyle/>
          <a:p>
            <a:fld id="{30B9A5F5-E9F1-42C3-8231-68493D5046B3}" type="datetimeFigureOut">
              <a:rPr lang="en-IN" smtClean="0"/>
              <a:t>13-09-2026</a:t>
            </a:fld>
            <a:endParaRPr lang="en-IN"/>
          </a:p>
        </p:txBody>
      </p:sp>
      <p:sp>
        <p:nvSpPr>
          <p:cNvPr id="4" name="Footer Placeholder 3">
            <a:extLst>
              <a:ext uri="{FF2B5EF4-FFF2-40B4-BE49-F238E27FC236}">
                <a16:creationId xmlns:a16="http://schemas.microsoft.com/office/drawing/2014/main" id="{421F862C-903B-8B89-13F5-CDD2C2754E3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5DA147-1B3A-7BCD-938C-53B14C939A5D}"/>
              </a:ext>
            </a:extLst>
          </p:cNvPr>
          <p:cNvSpPr>
            <a:spLocks noGrp="1"/>
          </p:cNvSpPr>
          <p:nvPr>
            <p:ph type="sldNum" sz="quarter" idx="12"/>
          </p:nvPr>
        </p:nvSpPr>
        <p:spPr/>
        <p:txBody>
          <a:bodyPr/>
          <a:lstStyle/>
          <a:p>
            <a:fld id="{B81345A3-0E30-438E-929C-F69629311553}" type="slidenum">
              <a:rPr lang="en-IN" smtClean="0"/>
              <a:t>‹#›</a:t>
            </a:fld>
            <a:endParaRPr lang="en-IN"/>
          </a:p>
        </p:txBody>
      </p:sp>
    </p:spTree>
    <p:extLst>
      <p:ext uri="{BB962C8B-B14F-4D97-AF65-F5344CB8AC3E}">
        <p14:creationId xmlns:p14="http://schemas.microsoft.com/office/powerpoint/2010/main" val="3899655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32AE34-0E88-9159-2445-F887B46C73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F98B86-0D30-48E3-6C64-340DF7F19E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A4C548-9243-7AD3-8769-0B4C87993E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B9A5F5-E9F1-42C3-8231-68493D5046B3}" type="datetimeFigureOut">
              <a:rPr lang="en-IN" smtClean="0"/>
              <a:t>13-09-2026</a:t>
            </a:fld>
            <a:endParaRPr lang="en-IN"/>
          </a:p>
        </p:txBody>
      </p:sp>
      <p:sp>
        <p:nvSpPr>
          <p:cNvPr id="5" name="Footer Placeholder 4">
            <a:extLst>
              <a:ext uri="{FF2B5EF4-FFF2-40B4-BE49-F238E27FC236}">
                <a16:creationId xmlns:a16="http://schemas.microsoft.com/office/drawing/2014/main" id="{A4AF229C-7E41-CB94-6E3A-750D72F3FF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9F28A9D-9D8A-D32C-8054-B3EC438CFB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345A3-0E30-438E-929C-F69629311553}" type="slidenum">
              <a:rPr lang="en-IN" smtClean="0"/>
              <a:t>‹#›</a:t>
            </a:fld>
            <a:endParaRPr lang="en-IN"/>
          </a:p>
        </p:txBody>
      </p:sp>
    </p:spTree>
    <p:extLst>
      <p:ext uri="{BB962C8B-B14F-4D97-AF65-F5344CB8AC3E}">
        <p14:creationId xmlns:p14="http://schemas.microsoft.com/office/powerpoint/2010/main" val="3225072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7ED8-0F1A-24B2-2E83-85CF63C5F8B4}"/>
              </a:ext>
            </a:extLst>
          </p:cNvPr>
          <p:cNvSpPr>
            <a:spLocks noGrp="1"/>
          </p:cNvSpPr>
          <p:nvPr>
            <p:ph type="ctrTitle"/>
          </p:nvPr>
        </p:nvSpPr>
        <p:spPr>
          <a:xfrm>
            <a:off x="1524000" y="1474838"/>
            <a:ext cx="9144000" cy="737419"/>
          </a:xfrm>
        </p:spPr>
        <p:txBody>
          <a:bodyPr>
            <a:noAutofit/>
          </a:bodyPr>
          <a:lstStyle/>
          <a:p>
            <a:r>
              <a:rPr lang="en-IN" sz="4400" dirty="0">
                <a:latin typeface="Algerian" panose="04020705040A02060702" pitchFamily="82" charset="0"/>
              </a:rPr>
              <a:t>HOSPITAL MANAGEMENT SYSTEM</a:t>
            </a:r>
          </a:p>
        </p:txBody>
      </p:sp>
      <p:sp>
        <p:nvSpPr>
          <p:cNvPr id="3" name="Subtitle 2">
            <a:extLst>
              <a:ext uri="{FF2B5EF4-FFF2-40B4-BE49-F238E27FC236}">
                <a16:creationId xmlns:a16="http://schemas.microsoft.com/office/drawing/2014/main" id="{3C12A257-DA79-3472-33AF-5252D8AF37A4}"/>
              </a:ext>
            </a:extLst>
          </p:cNvPr>
          <p:cNvSpPr>
            <a:spLocks noGrp="1"/>
          </p:cNvSpPr>
          <p:nvPr>
            <p:ph type="subTitle" idx="1"/>
          </p:nvPr>
        </p:nvSpPr>
        <p:spPr>
          <a:xfrm>
            <a:off x="904569" y="2517506"/>
            <a:ext cx="10481186" cy="4340493"/>
          </a:xfrm>
        </p:spPr>
        <p:txBody>
          <a:bodyPr>
            <a:normAutofit fontScale="70000" lnSpcReduction="20000"/>
          </a:bodyPr>
          <a:lstStyle/>
          <a:p>
            <a:r>
              <a:rPr lang="en-IN" sz="2800" dirty="0">
                <a:solidFill>
                  <a:srgbClr val="C00000"/>
                </a:solidFill>
                <a:latin typeface="Aptos Display" panose="020B0004020202020204" pitchFamily="34" charset="0"/>
              </a:rPr>
              <a:t>BATCH NUMBER : 3</a:t>
            </a:r>
            <a:endParaRPr lang="en-IN" sz="2800" u="sng" dirty="0">
              <a:solidFill>
                <a:srgbClr val="C00000"/>
              </a:solidFill>
              <a:latin typeface="Aptos Narrow" panose="020B0004020202020204" pitchFamily="34" charset="0"/>
            </a:endParaRPr>
          </a:p>
          <a:p>
            <a:pPr algn="l"/>
            <a:r>
              <a:rPr lang="en-IN" sz="2800" u="sng" dirty="0">
                <a:solidFill>
                  <a:schemeClr val="accent1">
                    <a:lumMod val="50000"/>
                  </a:schemeClr>
                </a:solidFill>
                <a:latin typeface="Aptos Narrow" panose="020B0004020202020204" pitchFamily="34" charset="0"/>
              </a:rPr>
              <a:t>Presented By:   </a:t>
            </a:r>
          </a:p>
          <a:p>
            <a:pPr algn="l"/>
            <a:r>
              <a:rPr lang="en-IN" dirty="0">
                <a:solidFill>
                  <a:schemeClr val="bg2">
                    <a:lumMod val="10000"/>
                  </a:schemeClr>
                </a:solidFill>
                <a:latin typeface="Aptos Display" panose="020B0004020202020204" pitchFamily="34" charset="0"/>
              </a:rPr>
              <a:t>      </a:t>
            </a:r>
            <a:r>
              <a:rPr lang="en-IN" sz="6200" dirty="0">
                <a:solidFill>
                  <a:schemeClr val="bg2">
                    <a:lumMod val="10000"/>
                  </a:schemeClr>
                </a:solidFill>
                <a:latin typeface="Aptos Display" panose="020B0004020202020204" pitchFamily="34" charset="0"/>
              </a:rPr>
              <a:t> </a:t>
            </a:r>
            <a:r>
              <a:rPr lang="en-IN" sz="2900" dirty="0">
                <a:latin typeface="Centaur" panose="02030504050205020304" pitchFamily="18" charset="0"/>
              </a:rPr>
              <a:t>K. Vijaya Durga - 25B11AI514 (AIML)                  </a:t>
            </a:r>
            <a:r>
              <a:rPr lang="en-IN" sz="3200" dirty="0">
                <a:latin typeface="Centaur" panose="02030504050205020304" pitchFamily="18" charset="0"/>
              </a:rPr>
              <a:t>P.  </a:t>
            </a:r>
            <a:r>
              <a:rPr lang="en-IN" sz="3200" dirty="0" err="1">
                <a:latin typeface="Centaur" panose="02030504050205020304" pitchFamily="18" charset="0"/>
              </a:rPr>
              <a:t>Sadwika</a:t>
            </a:r>
            <a:r>
              <a:rPr lang="en-IN" sz="3200" dirty="0">
                <a:latin typeface="Centaur" panose="02030504050205020304" pitchFamily="18" charset="0"/>
              </a:rPr>
              <a:t>  -  25B11AIA48 (AIML)  </a:t>
            </a:r>
            <a:endParaRPr lang="en-IN" sz="2300" dirty="0">
              <a:latin typeface="Centaur" panose="02030504050205020304" pitchFamily="18" charset="0"/>
            </a:endParaRPr>
          </a:p>
          <a:p>
            <a:pPr algn="l"/>
            <a:r>
              <a:rPr lang="en-IN" sz="2300" dirty="0">
                <a:latin typeface="Centaur" panose="02030504050205020304" pitchFamily="18" charset="0"/>
              </a:rPr>
              <a:t>    .  </a:t>
            </a:r>
            <a:r>
              <a:rPr lang="en-IN" sz="2900" dirty="0">
                <a:latin typeface="Centaur" panose="02030504050205020304" pitchFamily="18" charset="0"/>
              </a:rPr>
              <a:t>K.  Rupa Reddy – 25B11AI510 (AIML)                 N.  </a:t>
            </a:r>
            <a:r>
              <a:rPr lang="en-IN" sz="2900" dirty="0" err="1">
                <a:latin typeface="Centaur" panose="02030504050205020304" pitchFamily="18" charset="0"/>
              </a:rPr>
              <a:t>Gyaneswari</a:t>
            </a:r>
            <a:r>
              <a:rPr lang="en-IN" sz="2900" dirty="0">
                <a:latin typeface="Centaur" panose="02030504050205020304" pitchFamily="18" charset="0"/>
              </a:rPr>
              <a:t> – 25B11AI791 (AIML</a:t>
            </a:r>
            <a:r>
              <a:rPr lang="en-IN" sz="2900" dirty="0">
                <a:latin typeface="Aptos Display" panose="020B0004020202020204" pitchFamily="34" charset="0"/>
              </a:rPr>
              <a:t>)</a:t>
            </a:r>
          </a:p>
          <a:p>
            <a:pPr algn="l"/>
            <a:r>
              <a:rPr lang="en-IN" sz="2300" dirty="0">
                <a:latin typeface="Aptos Display" panose="020B0004020202020204" pitchFamily="34" charset="0"/>
              </a:rPr>
              <a:t>                                                </a:t>
            </a:r>
          </a:p>
          <a:p>
            <a:pPr algn="l"/>
            <a:r>
              <a:rPr lang="en-IN" sz="2800" dirty="0">
                <a:solidFill>
                  <a:schemeClr val="bg2">
                    <a:lumMod val="10000"/>
                  </a:schemeClr>
                </a:solidFill>
                <a:latin typeface="Aptos Display" panose="020B0004020202020204" pitchFamily="34" charset="0"/>
              </a:rPr>
              <a:t>                                                               </a:t>
            </a:r>
            <a:r>
              <a:rPr lang="en-US" sz="3400" dirty="0">
                <a:solidFill>
                  <a:srgbClr val="002060"/>
                </a:solidFill>
                <a:latin typeface="Times New Roman" panose="02020603050405020304" pitchFamily="18" charset="0"/>
                <a:cs typeface="Times New Roman" panose="02020603050405020304" pitchFamily="18" charset="0"/>
                <a:sym typeface="Times New Roman"/>
              </a:rPr>
              <a:t>Academic Year: 2026-2027</a:t>
            </a:r>
          </a:p>
          <a:p>
            <a:pPr algn="l"/>
            <a:endParaRPr lang="en-US" sz="3400" dirty="0">
              <a:solidFill>
                <a:srgbClr val="002060"/>
              </a:solidFill>
              <a:latin typeface="Times New Roman" panose="02020603050405020304" pitchFamily="18" charset="0"/>
              <a:cs typeface="Times New Roman" panose="02020603050405020304" pitchFamily="18" charset="0"/>
              <a:sym typeface="Times New Roman"/>
            </a:endParaRPr>
          </a:p>
          <a:p>
            <a:pPr algn="l"/>
            <a:r>
              <a:rPr lang="en-IN" sz="2900" dirty="0">
                <a:solidFill>
                  <a:schemeClr val="bg2">
                    <a:lumMod val="10000"/>
                  </a:schemeClr>
                </a:solidFill>
                <a:latin typeface="Aptos Display" panose="020B0004020202020204" pitchFamily="34" charset="0"/>
              </a:rPr>
              <a:t>                                                               </a:t>
            </a:r>
            <a:r>
              <a:rPr lang="en-US" sz="2900" dirty="0">
                <a:solidFill>
                  <a:schemeClr val="dk1"/>
                </a:solidFill>
                <a:ea typeface="Times New Roman"/>
                <a:cs typeface="Times New Roman" panose="02020603050405020304" pitchFamily="18" charset="0"/>
                <a:sym typeface="Times New Roman"/>
              </a:rPr>
              <a:t>Under esteemed guidance</a:t>
            </a:r>
          </a:p>
          <a:p>
            <a:pPr algn="l"/>
            <a:r>
              <a:rPr lang="en-US" sz="2900" b="1" noProof="1">
                <a:cs typeface="Times New Roman" panose="02020603050405020304" pitchFamily="18" charset="0"/>
              </a:rPr>
              <a:t>                                                            Dr P Kishorekumar</a:t>
            </a:r>
          </a:p>
          <a:p>
            <a:pPr algn="l"/>
            <a:r>
              <a:rPr lang="en-US" sz="2900" dirty="0">
                <a:cs typeface="Times New Roman" panose="02020603050405020304" pitchFamily="18" charset="0"/>
              </a:rPr>
              <a:t>                                                            Associate Professor </a:t>
            </a:r>
          </a:p>
          <a:p>
            <a:pPr algn="l"/>
            <a:r>
              <a:rPr lang="en-US" sz="2900" dirty="0">
                <a:cs typeface="Times New Roman" panose="02020603050405020304" pitchFamily="18" charset="0"/>
              </a:rPr>
              <a:t>                                                            Department of AIML </a:t>
            </a:r>
          </a:p>
          <a:p>
            <a:pPr algn="l"/>
            <a:r>
              <a:rPr lang="en-US" sz="2900" b="1" dirty="0">
                <a:cs typeface="Times New Roman" panose="02020603050405020304" pitchFamily="18" charset="0"/>
              </a:rPr>
              <a:t>                                                            Aditya University </a:t>
            </a:r>
            <a:endParaRPr lang="en-US" sz="2900" b="1" dirty="0">
              <a:solidFill>
                <a:schemeClr val="dk1"/>
              </a:solidFill>
              <a:ea typeface="Times New Roman"/>
              <a:cs typeface="Times New Roman" panose="02020603050405020304" pitchFamily="18" charset="0"/>
              <a:sym typeface="Times New Roman"/>
            </a:endParaRPr>
          </a:p>
          <a:p>
            <a:endParaRPr lang="en-IN" dirty="0">
              <a:solidFill>
                <a:schemeClr val="bg2">
                  <a:lumMod val="10000"/>
                </a:schemeClr>
              </a:solidFill>
              <a:latin typeface="Aptos Display" panose="020B0004020202020204" pitchFamily="34" charset="0"/>
            </a:endParaRPr>
          </a:p>
          <a:p>
            <a:endParaRPr lang="en-IN" dirty="0">
              <a:solidFill>
                <a:schemeClr val="bg2">
                  <a:lumMod val="10000"/>
                </a:schemeClr>
              </a:solidFill>
              <a:latin typeface="Aptos Display" panose="020B0004020202020204" pitchFamily="34" charset="0"/>
            </a:endParaRPr>
          </a:p>
          <a:p>
            <a:endParaRPr lang="en-IN" dirty="0">
              <a:solidFill>
                <a:schemeClr val="bg2">
                  <a:lumMod val="10000"/>
                </a:schemeClr>
              </a:solidFill>
              <a:latin typeface="Aptos Display" panose="020B0004020202020204" pitchFamily="34" charset="0"/>
            </a:endParaRPr>
          </a:p>
          <a:p>
            <a:endParaRPr lang="en-IN" dirty="0">
              <a:solidFill>
                <a:schemeClr val="bg2">
                  <a:lumMod val="10000"/>
                </a:schemeClr>
              </a:solidFill>
              <a:latin typeface="Aptos Display" panose="020B0004020202020204" pitchFamily="34" charset="0"/>
            </a:endParaRPr>
          </a:p>
          <a:p>
            <a:pPr algn="l"/>
            <a:endParaRPr lang="en-IN" dirty="0">
              <a:solidFill>
                <a:schemeClr val="bg2">
                  <a:lumMod val="10000"/>
                </a:schemeClr>
              </a:solidFill>
              <a:latin typeface="Aptos Display" panose="020B0004020202020204" pitchFamily="34" charset="0"/>
            </a:endParaRPr>
          </a:p>
        </p:txBody>
      </p:sp>
      <p:sp>
        <p:nvSpPr>
          <p:cNvPr id="5" name="TextBox 4">
            <a:extLst>
              <a:ext uri="{FF2B5EF4-FFF2-40B4-BE49-F238E27FC236}">
                <a16:creationId xmlns:a16="http://schemas.microsoft.com/office/drawing/2014/main" id="{7AF06925-2F31-FEEA-D1A3-6358F9073221}"/>
              </a:ext>
            </a:extLst>
          </p:cNvPr>
          <p:cNvSpPr txBox="1"/>
          <p:nvPr/>
        </p:nvSpPr>
        <p:spPr>
          <a:xfrm>
            <a:off x="3519948" y="707923"/>
            <a:ext cx="4660491" cy="461665"/>
          </a:xfrm>
          <a:prstGeom prst="rect">
            <a:avLst/>
          </a:prstGeom>
          <a:noFill/>
        </p:spPr>
        <p:txBody>
          <a:bodyPr wrap="square" rtlCol="0">
            <a:spAutoFit/>
          </a:bodyPr>
          <a:lstStyle/>
          <a:p>
            <a:r>
              <a:rPr lang="en-IN" dirty="0">
                <a:latin typeface="Arial Rounded MT Bold" panose="020F0704030504030204" pitchFamily="34" charset="0"/>
              </a:rPr>
              <a:t>  </a:t>
            </a:r>
            <a:r>
              <a:rPr lang="en-IN" sz="2000" dirty="0">
                <a:latin typeface="Arial Rounded MT Bold" panose="020F0704030504030204" pitchFamily="34" charset="0"/>
              </a:rPr>
              <a:t> </a:t>
            </a:r>
            <a:r>
              <a:rPr lang="en-IN" sz="2400" dirty="0">
                <a:latin typeface="Arial Rounded MT Bold" panose="020F0704030504030204" pitchFamily="34" charset="0"/>
              </a:rPr>
              <a:t>Capstone</a:t>
            </a:r>
            <a:r>
              <a:rPr lang="en-IN" sz="2000" dirty="0">
                <a:latin typeface="Arial Rounded MT Bold" panose="020F0704030504030204" pitchFamily="34" charset="0"/>
              </a:rPr>
              <a:t>  </a:t>
            </a:r>
            <a:r>
              <a:rPr lang="en-IN" sz="2400" dirty="0">
                <a:latin typeface="Arial Rounded MT Bold" panose="020F0704030504030204" pitchFamily="34" charset="0"/>
              </a:rPr>
              <a:t>Project  review -1</a:t>
            </a:r>
          </a:p>
        </p:txBody>
      </p:sp>
    </p:spTree>
    <p:extLst>
      <p:ext uri="{BB962C8B-B14F-4D97-AF65-F5344CB8AC3E}">
        <p14:creationId xmlns:p14="http://schemas.microsoft.com/office/powerpoint/2010/main" val="865626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7CE55-CCAB-CDFF-D363-48AB725C3287}"/>
              </a:ext>
            </a:extLst>
          </p:cNvPr>
          <p:cNvSpPr>
            <a:spLocks noGrp="1"/>
          </p:cNvSpPr>
          <p:nvPr>
            <p:ph type="title"/>
          </p:nvPr>
        </p:nvSpPr>
        <p:spPr>
          <a:xfrm>
            <a:off x="838200" y="681038"/>
            <a:ext cx="10515600" cy="489002"/>
          </a:xfrm>
        </p:spPr>
        <p:txBody>
          <a:bodyPr>
            <a:noAutofit/>
          </a:bodyPr>
          <a:lstStyle/>
          <a:p>
            <a:br>
              <a:rPr lang="en-US" dirty="0"/>
            </a:br>
            <a:endParaRPr lang="en-IN" dirty="0"/>
          </a:p>
        </p:txBody>
      </p:sp>
      <p:sp>
        <p:nvSpPr>
          <p:cNvPr id="3" name="Content Placeholder 2">
            <a:extLst>
              <a:ext uri="{FF2B5EF4-FFF2-40B4-BE49-F238E27FC236}">
                <a16:creationId xmlns:a16="http://schemas.microsoft.com/office/drawing/2014/main" id="{17A00181-4788-72E4-CE96-B3D8366305B8}"/>
              </a:ext>
            </a:extLst>
          </p:cNvPr>
          <p:cNvSpPr>
            <a:spLocks noGrp="1"/>
          </p:cNvSpPr>
          <p:nvPr>
            <p:ph idx="1"/>
          </p:nvPr>
        </p:nvSpPr>
        <p:spPr>
          <a:xfrm>
            <a:off x="0" y="245806"/>
            <a:ext cx="12192000" cy="6612194"/>
          </a:xfrm>
        </p:spPr>
        <p:txBody>
          <a:bodyPr/>
          <a:lstStyle/>
          <a:p>
            <a:pPr marL="0" indent="0">
              <a:buNone/>
            </a:pPr>
            <a:r>
              <a:rPr lang="en-US" sz="4800" dirty="0"/>
              <a:t>    </a:t>
            </a:r>
            <a:r>
              <a:rPr lang="en-US" sz="4800" dirty="0">
                <a:latin typeface="Algerian" panose="04020705040A02060702" pitchFamily="82" charset="0"/>
              </a:rPr>
              <a:t>Outline</a:t>
            </a:r>
          </a:p>
          <a:p>
            <a:pPr marL="0" indent="0">
              <a:buNone/>
            </a:pPr>
            <a:endParaRPr lang="en-US" sz="4800" dirty="0"/>
          </a:p>
          <a:p>
            <a:pPr marL="0" indent="0">
              <a:buNone/>
            </a:pPr>
            <a:endParaRPr lang="en-US" sz="4800" dirty="0"/>
          </a:p>
        </p:txBody>
      </p:sp>
      <p:sp>
        <p:nvSpPr>
          <p:cNvPr id="7" name="Rectangle 6">
            <a:extLst>
              <a:ext uri="{FF2B5EF4-FFF2-40B4-BE49-F238E27FC236}">
                <a16:creationId xmlns:a16="http://schemas.microsoft.com/office/drawing/2014/main" id="{BEA227E8-849B-D0DD-02AC-EB631F5F4F77}"/>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BD23007-7FFD-13A2-F241-64140C8FB0C9}"/>
              </a:ext>
            </a:extLst>
          </p:cNvPr>
          <p:cNvSpPr txBox="1"/>
          <p:nvPr/>
        </p:nvSpPr>
        <p:spPr>
          <a:xfrm>
            <a:off x="432620" y="1907458"/>
            <a:ext cx="6390968" cy="3098284"/>
          </a:xfrm>
          <a:prstGeom prst="rect">
            <a:avLst/>
          </a:prstGeom>
          <a:noFill/>
        </p:spPr>
        <p:txBody>
          <a:bodyPr wrap="square" rtlCol="0">
            <a:spAutoFit/>
          </a:bodyPr>
          <a:lstStyle/>
          <a:p>
            <a:pPr marL="342900" indent="-342900">
              <a:spcAft>
                <a:spcPts val="1000"/>
              </a:spcAft>
              <a:buFont typeface="Arial" panose="020B0604020202020204" pitchFamily="34" charset="0"/>
              <a:buChar char="•"/>
              <a:defRPr sz="2000" b="0">
                <a:solidFill>
                  <a:srgbClr val="232323"/>
                </a:solidFill>
                <a:latin typeface="Aptos"/>
              </a:defRPr>
            </a:pPr>
            <a:r>
              <a:rPr lang="en-US" sz="3600" dirty="0"/>
              <a:t>Introduction</a:t>
            </a:r>
          </a:p>
          <a:p>
            <a:pPr marL="342900" indent="-342900">
              <a:spcAft>
                <a:spcPts val="1000"/>
              </a:spcAft>
              <a:buFont typeface="Arial" panose="020B0604020202020204" pitchFamily="34" charset="0"/>
              <a:buChar char="•"/>
              <a:defRPr sz="2000" b="0">
                <a:solidFill>
                  <a:srgbClr val="232323"/>
                </a:solidFill>
                <a:latin typeface="Aptos"/>
              </a:defRPr>
            </a:pPr>
            <a:r>
              <a:rPr lang="en-US" sz="3600" dirty="0"/>
              <a:t>Problem statement</a:t>
            </a:r>
          </a:p>
          <a:p>
            <a:pPr marL="342900" indent="-342900">
              <a:spcAft>
                <a:spcPts val="1000"/>
              </a:spcAft>
              <a:buFont typeface="Arial" panose="020B0604020202020204" pitchFamily="34" charset="0"/>
              <a:buChar char="•"/>
              <a:defRPr sz="2000" b="0">
                <a:solidFill>
                  <a:srgbClr val="232323"/>
                </a:solidFill>
                <a:latin typeface="Aptos"/>
              </a:defRPr>
            </a:pPr>
            <a:r>
              <a:rPr lang="en-US" sz="3600" dirty="0"/>
              <a:t>Objectives</a:t>
            </a:r>
          </a:p>
          <a:p>
            <a:pPr marL="342900" indent="-342900">
              <a:spcAft>
                <a:spcPts val="1000"/>
              </a:spcAft>
              <a:buFont typeface="Arial" panose="020B0604020202020204" pitchFamily="34" charset="0"/>
              <a:buChar char="•"/>
              <a:defRPr sz="2000" b="0">
                <a:solidFill>
                  <a:srgbClr val="232323"/>
                </a:solidFill>
                <a:latin typeface="Aptos"/>
              </a:defRPr>
            </a:pPr>
            <a:r>
              <a:rPr lang="en-US" sz="3600" dirty="0"/>
              <a:t>System scope</a:t>
            </a:r>
          </a:p>
          <a:p>
            <a:endParaRPr lang="en-IN" dirty="0"/>
          </a:p>
        </p:txBody>
      </p:sp>
    </p:spTree>
    <p:extLst>
      <p:ext uri="{BB962C8B-B14F-4D97-AF65-F5344CB8AC3E}">
        <p14:creationId xmlns:p14="http://schemas.microsoft.com/office/powerpoint/2010/main" val="1639662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C8A47-1D4E-94B0-2E5F-7071C17FB26C}"/>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C3BA2973-6F89-F666-49EF-A5408D137686}"/>
              </a:ext>
            </a:extLst>
          </p:cNvPr>
          <p:cNvSpPr>
            <a:spLocks noGrp="1"/>
          </p:cNvSpPr>
          <p:nvPr>
            <p:ph type="title"/>
          </p:nvPr>
        </p:nvSpPr>
        <p:spPr>
          <a:xfrm>
            <a:off x="0" y="1"/>
            <a:ext cx="11434823" cy="982980"/>
          </a:xfrm>
        </p:spPr>
        <p:txBody>
          <a:bodyPr>
            <a:normAutofit fontScale="90000"/>
          </a:bodyPr>
          <a:lstStyle/>
          <a:p>
            <a:br>
              <a:rPr lang="en-IN" dirty="0"/>
            </a:br>
            <a:endParaRPr lang="en-IN" dirty="0"/>
          </a:p>
        </p:txBody>
      </p:sp>
      <p:sp>
        <p:nvSpPr>
          <p:cNvPr id="3" name="Subtitle 2">
            <a:extLst>
              <a:ext uri="{FF2B5EF4-FFF2-40B4-BE49-F238E27FC236}">
                <a16:creationId xmlns:a16="http://schemas.microsoft.com/office/drawing/2014/main" id="{1A287DD8-99F9-F7A6-8259-4767631E94D8}"/>
              </a:ext>
            </a:extLst>
          </p:cNvPr>
          <p:cNvSpPr>
            <a:spLocks noGrp="1"/>
          </p:cNvSpPr>
          <p:nvPr>
            <p:ph type="subTitle" idx="4294967295"/>
          </p:nvPr>
        </p:nvSpPr>
        <p:spPr>
          <a:xfrm>
            <a:off x="0" y="1139825"/>
            <a:ext cx="12192000" cy="5718175"/>
          </a:xfrm>
        </p:spPr>
        <p:txBody>
          <a:bodyPr>
            <a:normAutofit/>
          </a:bodyPr>
          <a:lstStyle/>
          <a:p>
            <a:pPr marL="0" indent="0" algn="l">
              <a:buNone/>
            </a:pPr>
            <a:endParaRPr lang="en-IN" sz="3900" dirty="0"/>
          </a:p>
          <a:p>
            <a:pPr algn="l"/>
            <a:r>
              <a:rPr lang="en-US" sz="2800" dirty="0">
                <a:latin typeface="+mj-lt"/>
              </a:rPr>
              <a:t> </a:t>
            </a:r>
            <a:r>
              <a:rPr lang="en-US" sz="2400" dirty="0">
                <a:latin typeface="+mj-lt"/>
              </a:rPr>
              <a:t>The Hospital Management System (HMS) is a database-based system designed  to manage and organize the day-to-day activities of a hospital. </a:t>
            </a:r>
          </a:p>
          <a:p>
            <a:pPr algn="l"/>
            <a:r>
              <a:rPr lang="en-US" sz="2400" dirty="0">
                <a:latin typeface="+mj-lt"/>
              </a:rPr>
              <a:t>It stores important information about patients, doctors, departments, appointments, medical records, medicines, prescriptions, bills, rooms, and staff.</a:t>
            </a:r>
          </a:p>
          <a:p>
            <a:pPr algn="l"/>
            <a:endParaRPr lang="en-US" sz="2400" dirty="0">
              <a:latin typeface="+mj-lt"/>
            </a:endParaRPr>
          </a:p>
          <a:p>
            <a:pPr algn="l"/>
            <a:r>
              <a:rPr lang="en-US" sz="2400" dirty="0">
                <a:latin typeface="+mj-lt"/>
              </a:rPr>
              <a:t> The system helps maintain hospital information in a structured and efficient manner.</a:t>
            </a:r>
          </a:p>
          <a:p>
            <a:pPr algn="l"/>
            <a:r>
              <a:rPr lang="en-US" sz="2400" dirty="0">
                <a:latin typeface="+mj-lt"/>
              </a:rPr>
              <a:t> Instead of maintaining records manually, the hospital can use a centralized database to store, retrieve, update, and manage information easily.</a:t>
            </a:r>
          </a:p>
          <a:p>
            <a:pPr algn="l"/>
            <a:endParaRPr lang="en-US" sz="2400" dirty="0">
              <a:latin typeface="+mj-lt"/>
            </a:endParaRPr>
          </a:p>
          <a:p>
            <a:pPr algn="l"/>
            <a:endParaRPr lang="en-US" sz="2400" dirty="0">
              <a:latin typeface="+mj-lt"/>
            </a:endParaRPr>
          </a:p>
          <a:p>
            <a:pPr algn="l"/>
            <a:r>
              <a:rPr lang="en-US" sz="2400" dirty="0">
                <a:latin typeface="+mj-lt"/>
              </a:rPr>
              <a:t> This improves accuracy, reduces data duplication, saves time, and makes hospital management more efficient</a:t>
            </a:r>
            <a:r>
              <a:rPr lang="en-US" sz="2800" dirty="0">
                <a:latin typeface="Algerian" panose="04020705040A02060702" pitchFamily="82" charset="0"/>
              </a:rPr>
              <a:t>.</a:t>
            </a:r>
            <a:endParaRPr lang="en-IN" sz="2800" dirty="0">
              <a:latin typeface="Algerian" panose="04020705040A02060702" pitchFamily="82" charset="0"/>
            </a:endParaRPr>
          </a:p>
        </p:txBody>
      </p:sp>
      <p:sp>
        <p:nvSpPr>
          <p:cNvPr id="11" name="Rectangle 10">
            <a:extLst>
              <a:ext uri="{FF2B5EF4-FFF2-40B4-BE49-F238E27FC236}">
                <a16:creationId xmlns:a16="http://schemas.microsoft.com/office/drawing/2014/main" id="{6B01AD5E-1DBB-322B-2A18-1F417BE48C85}"/>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3857D6A-1850-329B-6B86-ED7D71DBDE5E}"/>
              </a:ext>
            </a:extLst>
          </p:cNvPr>
          <p:cNvSpPr txBox="1"/>
          <p:nvPr/>
        </p:nvSpPr>
        <p:spPr>
          <a:xfrm>
            <a:off x="381965" y="476989"/>
            <a:ext cx="3576577" cy="523220"/>
          </a:xfrm>
          <a:prstGeom prst="rect">
            <a:avLst/>
          </a:prstGeom>
          <a:noFill/>
        </p:spPr>
        <p:txBody>
          <a:bodyPr wrap="square" rtlCol="0">
            <a:spAutoFit/>
          </a:bodyPr>
          <a:lstStyle/>
          <a:p>
            <a:r>
              <a:rPr lang="en-IN" sz="2800" dirty="0">
                <a:solidFill>
                  <a:srgbClr val="002060"/>
                </a:solidFill>
                <a:latin typeface="Algerian" panose="04020705040A02060702" pitchFamily="82" charset="0"/>
              </a:rPr>
              <a:t>1. Introduction</a:t>
            </a:r>
          </a:p>
        </p:txBody>
      </p:sp>
    </p:spTree>
    <p:extLst>
      <p:ext uri="{BB962C8B-B14F-4D97-AF65-F5344CB8AC3E}">
        <p14:creationId xmlns:p14="http://schemas.microsoft.com/office/powerpoint/2010/main" val="572185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9AE7C1-EBC0-E69F-8313-9A4600B62B9C}"/>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0E60763-64F6-5237-78F4-938CAC113B2D}"/>
              </a:ext>
            </a:extLst>
          </p:cNvPr>
          <p:cNvSpPr txBox="1"/>
          <p:nvPr/>
        </p:nvSpPr>
        <p:spPr>
          <a:xfrm>
            <a:off x="406271" y="365298"/>
            <a:ext cx="6030411" cy="523220"/>
          </a:xfrm>
          <a:prstGeom prst="rect">
            <a:avLst/>
          </a:prstGeom>
          <a:noFill/>
        </p:spPr>
        <p:txBody>
          <a:bodyPr wrap="square" rtlCol="0">
            <a:spAutoFit/>
          </a:bodyPr>
          <a:lstStyle/>
          <a:p>
            <a:pPr>
              <a:defRPr sz="2800" b="1">
                <a:solidFill>
                  <a:srgbClr val="182D4A"/>
                </a:solidFill>
                <a:latin typeface="Aptos Display"/>
              </a:defRPr>
            </a:pPr>
            <a:r>
              <a:rPr lang="en-IN" dirty="0">
                <a:solidFill>
                  <a:srgbClr val="002060"/>
                </a:solidFill>
                <a:latin typeface="Algerian" panose="04020705040A02060702" pitchFamily="82" charset="0"/>
              </a:rPr>
              <a:t>2. Problem   Statement</a:t>
            </a:r>
          </a:p>
        </p:txBody>
      </p:sp>
      <p:sp>
        <p:nvSpPr>
          <p:cNvPr id="11" name="TextBox 10">
            <a:extLst>
              <a:ext uri="{FF2B5EF4-FFF2-40B4-BE49-F238E27FC236}">
                <a16:creationId xmlns:a16="http://schemas.microsoft.com/office/drawing/2014/main" id="{044D2AD8-F068-F5B1-2B2D-BE17307E09B3}"/>
              </a:ext>
            </a:extLst>
          </p:cNvPr>
          <p:cNvSpPr txBox="1"/>
          <p:nvPr/>
        </p:nvSpPr>
        <p:spPr>
          <a:xfrm>
            <a:off x="0" y="1563080"/>
            <a:ext cx="12192000" cy="5201424"/>
          </a:xfrm>
          <a:prstGeom prst="rect">
            <a:avLst/>
          </a:prstGeom>
          <a:noFill/>
        </p:spPr>
        <p:txBody>
          <a:bodyPr wrap="square" rtlCol="0">
            <a:spAutoFit/>
          </a:bodyPr>
          <a:lstStyle/>
          <a:p>
            <a:r>
              <a:rPr lang="en-US" sz="2400" dirty="0">
                <a:latin typeface="+mj-lt"/>
              </a:rPr>
              <a:t>    In a traditional hospital, patient and hospital records may be maintained manually or in separate systems. Managing large amounts of information such as patient details, doctor details, appointments, medical records, medicines, rooms, and billing can become difficult.</a:t>
            </a:r>
          </a:p>
          <a:p>
            <a:endParaRPr lang="en-US" sz="2000" dirty="0">
              <a:latin typeface="+mj-lt"/>
            </a:endParaRPr>
          </a:p>
          <a:p>
            <a:r>
              <a:rPr lang="en-US" sz="2400" dirty="0">
                <a:latin typeface="+mj-lt"/>
              </a:rPr>
              <a:t>Manual record keeping can lead to:</a:t>
            </a:r>
          </a:p>
          <a:p>
            <a:r>
              <a:rPr lang="en-US" sz="2400" dirty="0">
                <a:latin typeface="+mj-lt"/>
              </a:rPr>
              <a:t>  1.      Data duplication</a:t>
            </a:r>
          </a:p>
          <a:p>
            <a:r>
              <a:rPr lang="en-US" sz="2400" dirty="0">
                <a:latin typeface="+mj-lt"/>
              </a:rPr>
              <a:t>  2.      Loss of important information</a:t>
            </a:r>
          </a:p>
          <a:p>
            <a:r>
              <a:rPr lang="en-US" sz="2400" dirty="0">
                <a:latin typeface="+mj-lt"/>
              </a:rPr>
              <a:t>  3.      Difficulty in searching records</a:t>
            </a:r>
          </a:p>
          <a:p>
            <a:r>
              <a:rPr lang="en-US" sz="2400" dirty="0">
                <a:latin typeface="+mj-lt"/>
              </a:rPr>
              <a:t>  4.      Errors in maintaining patient information</a:t>
            </a:r>
          </a:p>
          <a:p>
            <a:r>
              <a:rPr lang="en-US" sz="2400" dirty="0">
                <a:latin typeface="+mj-lt"/>
              </a:rPr>
              <a:t>  5.      Difficulty in managing appointments</a:t>
            </a:r>
          </a:p>
          <a:p>
            <a:r>
              <a:rPr lang="en-US" sz="2400" dirty="0">
                <a:latin typeface="+mj-lt"/>
              </a:rPr>
              <a:t>  6.      Problems in maintaining billing and medicine records</a:t>
            </a:r>
          </a:p>
          <a:p>
            <a:r>
              <a:rPr lang="en-US" sz="2400" dirty="0">
                <a:latin typeface="+mj-lt"/>
              </a:rPr>
              <a:t>  7.      Time-consuming record updates</a:t>
            </a:r>
          </a:p>
          <a:p>
            <a:r>
              <a:rPr lang="en-US" sz="2400" dirty="0">
                <a:latin typeface="+mj-lt"/>
              </a:rPr>
              <a:t>    Therefore, a Hospital Management System is required to store and manage all hospital-related         information in a centralized and organized database. </a:t>
            </a:r>
            <a:endParaRPr lang="en-IN" sz="2400" dirty="0">
              <a:latin typeface="+mj-lt"/>
            </a:endParaRPr>
          </a:p>
        </p:txBody>
      </p:sp>
    </p:spTree>
    <p:extLst>
      <p:ext uri="{BB962C8B-B14F-4D97-AF65-F5344CB8AC3E}">
        <p14:creationId xmlns:p14="http://schemas.microsoft.com/office/powerpoint/2010/main" val="4124257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23CCC4C-71B0-7936-C5F7-D7632E2D9CBE}"/>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9DDC93D-821C-6F41-EBB3-7F8B12A5E9F9}"/>
              </a:ext>
            </a:extLst>
          </p:cNvPr>
          <p:cNvSpPr txBox="1"/>
          <p:nvPr/>
        </p:nvSpPr>
        <p:spPr>
          <a:xfrm>
            <a:off x="525534" y="555772"/>
            <a:ext cx="10972800" cy="523220"/>
          </a:xfrm>
          <a:prstGeom prst="rect">
            <a:avLst/>
          </a:prstGeom>
          <a:noFill/>
        </p:spPr>
        <p:txBody>
          <a:bodyPr wrap="square">
            <a:spAutoFit/>
          </a:bodyPr>
          <a:lstStyle/>
          <a:p>
            <a:pPr>
              <a:defRPr sz="2800" b="1">
                <a:solidFill>
                  <a:srgbClr val="182D4A"/>
                </a:solidFill>
                <a:latin typeface="Aptos Display"/>
              </a:defRPr>
            </a:pPr>
            <a:r>
              <a:rPr dirty="0">
                <a:solidFill>
                  <a:srgbClr val="002060"/>
                </a:solidFill>
                <a:latin typeface="Algerian" panose="04020705040A02060702" pitchFamily="82" charset="0"/>
              </a:rPr>
              <a:t>3. Objectives</a:t>
            </a:r>
          </a:p>
        </p:txBody>
      </p:sp>
      <p:sp>
        <p:nvSpPr>
          <p:cNvPr id="17" name="TextBox 16">
            <a:extLst>
              <a:ext uri="{FF2B5EF4-FFF2-40B4-BE49-F238E27FC236}">
                <a16:creationId xmlns:a16="http://schemas.microsoft.com/office/drawing/2014/main" id="{2F0632FB-0958-03E1-C90B-493C53726583}"/>
              </a:ext>
            </a:extLst>
          </p:cNvPr>
          <p:cNvSpPr txBox="1"/>
          <p:nvPr/>
        </p:nvSpPr>
        <p:spPr>
          <a:xfrm>
            <a:off x="525534" y="1417320"/>
            <a:ext cx="10813026" cy="2580194"/>
          </a:xfrm>
          <a:prstGeom prst="rect">
            <a:avLst/>
          </a:prstGeom>
          <a:noFill/>
        </p:spPr>
        <p:txBody>
          <a:bodyPr wrap="square">
            <a:spAutoFit/>
          </a:bodyPr>
          <a:lstStyle/>
          <a:p>
            <a:pPr>
              <a:spcAft>
                <a:spcPts val="1000"/>
              </a:spcAft>
              <a:defRPr sz="1900" b="0">
                <a:solidFill>
                  <a:srgbClr val="232323"/>
                </a:solidFill>
                <a:latin typeface="Aptos"/>
              </a:defRPr>
            </a:pPr>
            <a:r>
              <a:rPr lang="en-US" sz="2000" dirty="0"/>
              <a:t>Identify the major entities involved in  Ho</a:t>
            </a:r>
            <a:r>
              <a:rPr lang="en-IN" sz="2000" dirty="0"/>
              <a:t>spital</a:t>
            </a:r>
            <a:r>
              <a:rPr lang="en-US" sz="2000" dirty="0"/>
              <a:t> management system.</a:t>
            </a:r>
            <a:endParaRPr sz="2000" dirty="0"/>
          </a:p>
          <a:p>
            <a:pPr>
              <a:spcAft>
                <a:spcPts val="1000"/>
              </a:spcAft>
              <a:defRPr sz="1900" b="0">
                <a:solidFill>
                  <a:srgbClr val="232323"/>
                </a:solidFill>
                <a:latin typeface="Aptos"/>
              </a:defRPr>
            </a:pPr>
            <a:r>
              <a:rPr sz="2000" dirty="0"/>
              <a:t>Identify suitable attributes for each entity.</a:t>
            </a:r>
          </a:p>
          <a:p>
            <a:pPr>
              <a:spcAft>
                <a:spcPts val="1000"/>
              </a:spcAft>
              <a:defRPr sz="1900" b="0">
                <a:solidFill>
                  <a:srgbClr val="232323"/>
                </a:solidFill>
                <a:latin typeface="Aptos"/>
              </a:defRPr>
            </a:pPr>
            <a:r>
              <a:rPr sz="2000" dirty="0"/>
              <a:t>Establish relationships between the identified entities.</a:t>
            </a:r>
          </a:p>
          <a:p>
            <a:pPr>
              <a:spcAft>
                <a:spcPts val="1000"/>
              </a:spcAft>
              <a:defRPr sz="1900" b="0">
                <a:solidFill>
                  <a:srgbClr val="232323"/>
                </a:solidFill>
                <a:latin typeface="Aptos"/>
              </a:defRPr>
            </a:pPr>
            <a:r>
              <a:rPr sz="2000" dirty="0"/>
              <a:t>Design an Entity–Relationship (ER) diagram.</a:t>
            </a:r>
          </a:p>
          <a:p>
            <a:pPr>
              <a:spcAft>
                <a:spcPts val="1000"/>
              </a:spcAft>
              <a:defRPr sz="1900" b="0">
                <a:solidFill>
                  <a:srgbClr val="232323"/>
                </a:solidFill>
                <a:latin typeface="Aptos"/>
              </a:defRPr>
            </a:pPr>
            <a:r>
              <a:rPr sz="2000" dirty="0"/>
              <a:t>Convert the ER model into a relational database schema.</a:t>
            </a:r>
          </a:p>
          <a:p>
            <a:pPr>
              <a:spcAft>
                <a:spcPts val="1000"/>
              </a:spcAft>
              <a:defRPr sz="1900" b="0">
                <a:solidFill>
                  <a:srgbClr val="232323"/>
                </a:solidFill>
                <a:latin typeface="Aptos"/>
              </a:defRPr>
            </a:pPr>
            <a:r>
              <a:rPr sz="2000" dirty="0"/>
              <a:t>Identify Primary Keys and Foreign Keys.</a:t>
            </a:r>
          </a:p>
        </p:txBody>
      </p:sp>
    </p:spTree>
    <p:extLst>
      <p:ext uri="{BB962C8B-B14F-4D97-AF65-F5344CB8AC3E}">
        <p14:creationId xmlns:p14="http://schemas.microsoft.com/office/powerpoint/2010/main" val="1012734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F43F1BE-4C33-1DD2-58BB-8161E087FB98}"/>
              </a:ext>
            </a:extLst>
          </p:cNvPr>
          <p:cNvSpPr txBox="1"/>
          <p:nvPr/>
        </p:nvSpPr>
        <p:spPr>
          <a:xfrm>
            <a:off x="757084" y="403123"/>
            <a:ext cx="184731" cy="369332"/>
          </a:xfrm>
          <a:prstGeom prst="rect">
            <a:avLst/>
          </a:prstGeom>
          <a:noFill/>
        </p:spPr>
        <p:txBody>
          <a:bodyPr wrap="none" rtlCol="0">
            <a:spAutoFit/>
          </a:bodyPr>
          <a:lstStyle/>
          <a:p>
            <a:endParaRPr lang="en-IN" dirty="0"/>
          </a:p>
        </p:txBody>
      </p:sp>
      <p:sp>
        <p:nvSpPr>
          <p:cNvPr id="14" name="Rectangle 13">
            <a:extLst>
              <a:ext uri="{FF2B5EF4-FFF2-40B4-BE49-F238E27FC236}">
                <a16:creationId xmlns:a16="http://schemas.microsoft.com/office/drawing/2014/main" id="{6FEFD667-30DC-C82C-0FCB-486F4CF0BB9B}"/>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5651CF1-5508-AD7E-FDFF-4914250A11C3}"/>
              </a:ext>
            </a:extLst>
          </p:cNvPr>
          <p:cNvSpPr txBox="1"/>
          <p:nvPr/>
        </p:nvSpPr>
        <p:spPr>
          <a:xfrm>
            <a:off x="462116" y="268463"/>
            <a:ext cx="10972800" cy="523220"/>
          </a:xfrm>
          <a:prstGeom prst="rect">
            <a:avLst/>
          </a:prstGeom>
          <a:noFill/>
        </p:spPr>
        <p:txBody>
          <a:bodyPr wrap="square">
            <a:spAutoFit/>
          </a:bodyPr>
          <a:lstStyle/>
          <a:p>
            <a:pPr>
              <a:defRPr sz="2800" b="1">
                <a:solidFill>
                  <a:srgbClr val="182D4A"/>
                </a:solidFill>
                <a:latin typeface="Aptos Display"/>
              </a:defRPr>
            </a:pPr>
            <a:r>
              <a:rPr dirty="0">
                <a:latin typeface="Algerian" panose="04020705040A02060702" pitchFamily="82" charset="0"/>
              </a:rPr>
              <a:t>4. System Scope</a:t>
            </a:r>
          </a:p>
        </p:txBody>
      </p:sp>
      <p:pic>
        <p:nvPicPr>
          <p:cNvPr id="27" name="Picture 26">
            <a:extLst>
              <a:ext uri="{FF2B5EF4-FFF2-40B4-BE49-F238E27FC236}">
                <a16:creationId xmlns:a16="http://schemas.microsoft.com/office/drawing/2014/main" id="{9C9F06F9-BF7A-C23B-15B2-90950C0AB5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6161"/>
            <a:ext cx="12192000" cy="5243901"/>
          </a:xfrm>
          <a:prstGeom prst="rect">
            <a:avLst/>
          </a:prstGeom>
        </p:spPr>
      </p:pic>
    </p:spTree>
    <p:extLst>
      <p:ext uri="{BB962C8B-B14F-4D97-AF65-F5344CB8AC3E}">
        <p14:creationId xmlns:p14="http://schemas.microsoft.com/office/powerpoint/2010/main" val="541181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9D5E5C7-8494-1F14-DFD2-29C228B3400A}"/>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B068276C-CB12-70C1-03FE-14B5314E2E8D}"/>
              </a:ext>
            </a:extLst>
          </p:cNvPr>
          <p:cNvSpPr txBox="1"/>
          <p:nvPr/>
        </p:nvSpPr>
        <p:spPr>
          <a:xfrm>
            <a:off x="462280" y="336312"/>
            <a:ext cx="5078634" cy="523220"/>
          </a:xfrm>
          <a:prstGeom prst="rect">
            <a:avLst/>
          </a:prstGeom>
          <a:noFill/>
        </p:spPr>
        <p:txBody>
          <a:bodyPr wrap="none">
            <a:spAutoFit/>
          </a:bodyPr>
          <a:lstStyle/>
          <a:p>
            <a:pPr>
              <a:defRPr sz="2800" b="1">
                <a:solidFill>
                  <a:srgbClr val="182D4A"/>
                </a:solidFill>
                <a:latin typeface="Aptos Display"/>
              </a:defRPr>
            </a:pPr>
            <a:r>
              <a:rPr dirty="0">
                <a:latin typeface="Algerian" panose="04020705040A02060702" pitchFamily="82" charset="0"/>
              </a:rPr>
              <a:t>5. Entities and Attributes</a:t>
            </a:r>
          </a:p>
        </p:txBody>
      </p:sp>
      <p:graphicFrame>
        <p:nvGraphicFramePr>
          <p:cNvPr id="18" name="Table 17">
            <a:extLst>
              <a:ext uri="{FF2B5EF4-FFF2-40B4-BE49-F238E27FC236}">
                <a16:creationId xmlns:a16="http://schemas.microsoft.com/office/drawing/2014/main" id="{5627DF06-D461-6213-8C9F-AD90AF45D1BE}"/>
              </a:ext>
            </a:extLst>
          </p:cNvPr>
          <p:cNvGraphicFramePr>
            <a:graphicFrameLocks noGrp="1"/>
          </p:cNvGraphicFramePr>
          <p:nvPr>
            <p:extLst>
              <p:ext uri="{D42A27DB-BD31-4B8C-83A1-F6EECF244321}">
                <p14:modId xmlns:p14="http://schemas.microsoft.com/office/powerpoint/2010/main" val="3368782040"/>
              </p:ext>
            </p:extLst>
          </p:nvPr>
        </p:nvGraphicFramePr>
        <p:xfrm>
          <a:off x="223520" y="1362460"/>
          <a:ext cx="11326686" cy="5376030"/>
        </p:xfrm>
        <a:graphic>
          <a:graphicData uri="http://schemas.openxmlformats.org/drawingml/2006/table">
            <a:tbl>
              <a:tblPr firstRow="1" bandRow="1">
                <a:tableStyleId>{7DF18680-E054-41AD-8BC1-D1AEF772440D}</a:tableStyleId>
              </a:tblPr>
              <a:tblGrid>
                <a:gridCol w="1735646">
                  <a:extLst>
                    <a:ext uri="{9D8B030D-6E8A-4147-A177-3AD203B41FA5}">
                      <a16:colId xmlns:a16="http://schemas.microsoft.com/office/drawing/2014/main" val="2280438165"/>
                    </a:ext>
                  </a:extLst>
                </a:gridCol>
                <a:gridCol w="9591040">
                  <a:extLst>
                    <a:ext uri="{9D8B030D-6E8A-4147-A177-3AD203B41FA5}">
                      <a16:colId xmlns:a16="http://schemas.microsoft.com/office/drawing/2014/main" val="1560532279"/>
                    </a:ext>
                  </a:extLst>
                </a:gridCol>
              </a:tblGrid>
              <a:tr h="473595">
                <a:tc>
                  <a:txBody>
                    <a:bodyPr/>
                    <a:lstStyle/>
                    <a:p>
                      <a:pPr algn="l"/>
                      <a:r>
                        <a:rPr lang="en-IN" dirty="0"/>
                        <a:t>ENTITY</a:t>
                      </a:r>
                    </a:p>
                  </a:txBody>
                  <a:tcPr/>
                </a:tc>
                <a:tc>
                  <a:txBody>
                    <a:bodyPr/>
                    <a:lstStyle/>
                    <a:p>
                      <a:pPr algn="l"/>
                      <a:r>
                        <a:rPr lang="en-IN" dirty="0"/>
                        <a:t>KEY ATTRIBUTES</a:t>
                      </a:r>
                    </a:p>
                  </a:txBody>
                  <a:tcPr/>
                </a:tc>
                <a:extLst>
                  <a:ext uri="{0D108BD9-81ED-4DB2-BD59-A6C34878D82A}">
                    <a16:rowId xmlns:a16="http://schemas.microsoft.com/office/drawing/2014/main" val="4058432410"/>
                  </a:ext>
                </a:extLst>
              </a:tr>
              <a:tr h="473595">
                <a:tc>
                  <a:txBody>
                    <a:bodyPr/>
                    <a:lstStyle/>
                    <a:p>
                      <a:pPr algn="l"/>
                      <a:r>
                        <a:rPr lang="en-IN" dirty="0"/>
                        <a:t>Patient</a:t>
                      </a:r>
                    </a:p>
                  </a:txBody>
                  <a:tcPr/>
                </a:tc>
                <a:tc>
                  <a:txBody>
                    <a:bodyPr/>
                    <a:lstStyle/>
                    <a:p>
                      <a:r>
                        <a:rPr lang="en-US" dirty="0" err="1"/>
                        <a:t>Patient_ID</a:t>
                      </a:r>
                      <a:r>
                        <a:rPr lang="en-US" dirty="0"/>
                        <a:t> (PK), </a:t>
                      </a:r>
                      <a:r>
                        <a:rPr lang="en-US" dirty="0" err="1"/>
                        <a:t>Patient_Name</a:t>
                      </a:r>
                      <a:r>
                        <a:rPr lang="en-US" dirty="0"/>
                        <a:t>, DOB, Gender, Phone, Address</a:t>
                      </a:r>
                      <a:endParaRPr lang="en-IN" dirty="0"/>
                    </a:p>
                  </a:txBody>
                  <a:tcPr/>
                </a:tc>
                <a:extLst>
                  <a:ext uri="{0D108BD9-81ED-4DB2-BD59-A6C34878D82A}">
                    <a16:rowId xmlns:a16="http://schemas.microsoft.com/office/drawing/2014/main" val="1966136888"/>
                  </a:ext>
                </a:extLst>
              </a:tr>
              <a:tr h="473595">
                <a:tc>
                  <a:txBody>
                    <a:bodyPr/>
                    <a:lstStyle/>
                    <a:p>
                      <a:pPr algn="l"/>
                      <a:r>
                        <a:rPr lang="en-IN" dirty="0"/>
                        <a:t>Doctor</a:t>
                      </a:r>
                    </a:p>
                  </a:txBody>
                  <a:tcPr/>
                </a:tc>
                <a:tc>
                  <a:txBody>
                    <a:bodyPr/>
                    <a:lstStyle/>
                    <a:p>
                      <a:r>
                        <a:rPr lang="en-US" dirty="0" err="1"/>
                        <a:t>Doctor_ID</a:t>
                      </a:r>
                      <a:r>
                        <a:rPr lang="en-US" dirty="0"/>
                        <a:t> (PK), </a:t>
                      </a:r>
                      <a:r>
                        <a:rPr lang="en-US" dirty="0" err="1"/>
                        <a:t>Doctor_Name</a:t>
                      </a:r>
                      <a:r>
                        <a:rPr lang="en-US" dirty="0"/>
                        <a:t>, Specialization, Phone, Email, </a:t>
                      </a:r>
                      <a:r>
                        <a:rPr lang="en-US" dirty="0" err="1"/>
                        <a:t>Department_ID</a:t>
                      </a:r>
                      <a:r>
                        <a:rPr lang="en-US" dirty="0"/>
                        <a:t> (FK)</a:t>
                      </a:r>
                      <a:endParaRPr lang="en-IN" dirty="0"/>
                    </a:p>
                  </a:txBody>
                  <a:tcPr/>
                </a:tc>
                <a:extLst>
                  <a:ext uri="{0D108BD9-81ED-4DB2-BD59-A6C34878D82A}">
                    <a16:rowId xmlns:a16="http://schemas.microsoft.com/office/drawing/2014/main" val="1792551098"/>
                  </a:ext>
                </a:extLst>
              </a:tr>
              <a:tr h="473595">
                <a:tc>
                  <a:txBody>
                    <a:bodyPr/>
                    <a:lstStyle/>
                    <a:p>
                      <a:pPr algn="l"/>
                      <a:r>
                        <a:rPr lang="en-IN" dirty="0"/>
                        <a:t>Department</a:t>
                      </a:r>
                    </a:p>
                  </a:txBody>
                  <a:tcPr/>
                </a:tc>
                <a:tc>
                  <a:txBody>
                    <a:bodyPr/>
                    <a:lstStyle/>
                    <a:p>
                      <a:r>
                        <a:rPr lang="en-US" dirty="0" err="1"/>
                        <a:t>Department_ID</a:t>
                      </a:r>
                      <a:r>
                        <a:rPr lang="en-US" dirty="0"/>
                        <a:t> (PK), </a:t>
                      </a:r>
                      <a:r>
                        <a:rPr lang="en-US" dirty="0" err="1"/>
                        <a:t>Department_Name</a:t>
                      </a:r>
                      <a:r>
                        <a:rPr lang="en-US" dirty="0"/>
                        <a:t>, Location, Phone, </a:t>
                      </a:r>
                      <a:r>
                        <a:rPr lang="en-US" dirty="0" err="1"/>
                        <a:t>Head_Doctor</a:t>
                      </a:r>
                      <a:r>
                        <a:rPr lang="en-US" dirty="0"/>
                        <a:t>, Description</a:t>
                      </a:r>
                      <a:endParaRPr lang="en-IN" dirty="0"/>
                    </a:p>
                  </a:txBody>
                  <a:tcPr/>
                </a:tc>
                <a:extLst>
                  <a:ext uri="{0D108BD9-81ED-4DB2-BD59-A6C34878D82A}">
                    <a16:rowId xmlns:a16="http://schemas.microsoft.com/office/drawing/2014/main" val="4052876370"/>
                  </a:ext>
                </a:extLst>
              </a:tr>
              <a:tr h="473595">
                <a:tc>
                  <a:txBody>
                    <a:bodyPr/>
                    <a:lstStyle/>
                    <a:p>
                      <a:pPr algn="l"/>
                      <a:r>
                        <a:rPr lang="en-IN" dirty="0"/>
                        <a:t>Appointment</a:t>
                      </a:r>
                    </a:p>
                  </a:txBody>
                  <a:tcPr/>
                </a:tc>
                <a:tc>
                  <a:txBody>
                    <a:bodyPr/>
                    <a:lstStyle/>
                    <a:p>
                      <a:r>
                        <a:rPr lang="en-US" dirty="0" err="1"/>
                        <a:t>Appointment_ID</a:t>
                      </a:r>
                      <a:r>
                        <a:rPr lang="en-US" dirty="0"/>
                        <a:t> (PK), </a:t>
                      </a:r>
                      <a:r>
                        <a:rPr lang="en-US" dirty="0" err="1"/>
                        <a:t>Patient_ID</a:t>
                      </a:r>
                      <a:r>
                        <a:rPr lang="en-US" dirty="0"/>
                        <a:t> (FK), </a:t>
                      </a:r>
                      <a:r>
                        <a:rPr lang="en-US" dirty="0" err="1"/>
                        <a:t>Doctor_ID</a:t>
                      </a:r>
                      <a:r>
                        <a:rPr lang="en-US" dirty="0"/>
                        <a:t> (FK), </a:t>
                      </a:r>
                      <a:r>
                        <a:rPr lang="en-US" dirty="0" err="1"/>
                        <a:t>Appointment_Date</a:t>
                      </a:r>
                      <a:r>
                        <a:rPr lang="en-US" dirty="0"/>
                        <a:t>, </a:t>
                      </a:r>
                      <a:r>
                        <a:rPr lang="en-US" dirty="0" err="1"/>
                        <a:t>Appointment_Time</a:t>
                      </a:r>
                      <a:r>
                        <a:rPr lang="en-US" dirty="0"/>
                        <a:t>, Status</a:t>
                      </a:r>
                      <a:endParaRPr lang="en-IN" dirty="0"/>
                    </a:p>
                  </a:txBody>
                  <a:tcPr/>
                </a:tc>
                <a:extLst>
                  <a:ext uri="{0D108BD9-81ED-4DB2-BD59-A6C34878D82A}">
                    <a16:rowId xmlns:a16="http://schemas.microsoft.com/office/drawing/2014/main" val="100537346"/>
                  </a:ext>
                </a:extLst>
              </a:tr>
              <a:tr h="473595">
                <a:tc>
                  <a:txBody>
                    <a:bodyPr/>
                    <a:lstStyle/>
                    <a:p>
                      <a:pPr algn="l"/>
                      <a:r>
                        <a:rPr lang="en-IN" dirty="0" err="1"/>
                        <a:t>Medical_Record</a:t>
                      </a:r>
                      <a:endParaRPr lang="en-IN" dirty="0"/>
                    </a:p>
                  </a:txBody>
                  <a:tcPr/>
                </a:tc>
                <a:tc>
                  <a:txBody>
                    <a:bodyPr/>
                    <a:lstStyle/>
                    <a:p>
                      <a:r>
                        <a:rPr lang="en-US" dirty="0" err="1"/>
                        <a:t>Record_ID</a:t>
                      </a:r>
                      <a:r>
                        <a:rPr lang="en-US" dirty="0"/>
                        <a:t> (PK), </a:t>
                      </a:r>
                      <a:r>
                        <a:rPr lang="en-US" dirty="0" err="1"/>
                        <a:t>Patient_ID</a:t>
                      </a:r>
                      <a:r>
                        <a:rPr lang="en-US" dirty="0"/>
                        <a:t> (FK), </a:t>
                      </a:r>
                      <a:r>
                        <a:rPr lang="en-US" dirty="0" err="1"/>
                        <a:t>Doctor_ID</a:t>
                      </a:r>
                      <a:r>
                        <a:rPr lang="en-US" dirty="0"/>
                        <a:t> (FK), Diagnosis, Treatment, </a:t>
                      </a:r>
                      <a:r>
                        <a:rPr lang="en-US" dirty="0" err="1"/>
                        <a:t>Record_Date</a:t>
                      </a:r>
                      <a:endParaRPr lang="en-IN" dirty="0"/>
                    </a:p>
                  </a:txBody>
                  <a:tcPr/>
                </a:tc>
                <a:extLst>
                  <a:ext uri="{0D108BD9-81ED-4DB2-BD59-A6C34878D82A}">
                    <a16:rowId xmlns:a16="http://schemas.microsoft.com/office/drawing/2014/main" val="1301401157"/>
                  </a:ext>
                </a:extLst>
              </a:tr>
              <a:tr h="473595">
                <a:tc>
                  <a:txBody>
                    <a:bodyPr/>
                    <a:lstStyle/>
                    <a:p>
                      <a:pPr algn="l"/>
                      <a:r>
                        <a:rPr lang="en-IN" dirty="0"/>
                        <a:t>Medicine</a:t>
                      </a:r>
                    </a:p>
                  </a:txBody>
                  <a:tcPr/>
                </a:tc>
                <a:tc>
                  <a:txBody>
                    <a:bodyPr/>
                    <a:lstStyle/>
                    <a:p>
                      <a:r>
                        <a:rPr lang="en-US" dirty="0" err="1"/>
                        <a:t>Medicine_ID</a:t>
                      </a:r>
                      <a:r>
                        <a:rPr lang="en-US" dirty="0"/>
                        <a:t> (PK), </a:t>
                      </a:r>
                      <a:r>
                        <a:rPr lang="en-US" dirty="0" err="1"/>
                        <a:t>Medicine_Name</a:t>
                      </a:r>
                      <a:r>
                        <a:rPr lang="en-US" dirty="0"/>
                        <a:t>, Category, Manufacturer, Quantity, </a:t>
                      </a:r>
                      <a:r>
                        <a:rPr lang="en-US" dirty="0" err="1"/>
                        <a:t>Unit_Price</a:t>
                      </a:r>
                      <a:endParaRPr lang="en-IN" dirty="0"/>
                    </a:p>
                  </a:txBody>
                  <a:tcPr/>
                </a:tc>
                <a:extLst>
                  <a:ext uri="{0D108BD9-81ED-4DB2-BD59-A6C34878D82A}">
                    <a16:rowId xmlns:a16="http://schemas.microsoft.com/office/drawing/2014/main" val="1570885953"/>
                  </a:ext>
                </a:extLst>
              </a:tr>
              <a:tr h="473595">
                <a:tc>
                  <a:txBody>
                    <a:bodyPr/>
                    <a:lstStyle/>
                    <a:p>
                      <a:pPr algn="l"/>
                      <a:r>
                        <a:rPr lang="en-IN" dirty="0"/>
                        <a:t>Prescription</a:t>
                      </a:r>
                    </a:p>
                  </a:txBody>
                  <a:tcPr/>
                </a:tc>
                <a:tc>
                  <a:txBody>
                    <a:bodyPr/>
                    <a:lstStyle/>
                    <a:p>
                      <a:r>
                        <a:rPr lang="en-IN" dirty="0" err="1"/>
                        <a:t>Prescription_ID</a:t>
                      </a:r>
                      <a:r>
                        <a:rPr lang="en-IN" dirty="0"/>
                        <a:t> (PK), </a:t>
                      </a:r>
                      <a:r>
                        <a:rPr lang="en-IN" dirty="0" err="1"/>
                        <a:t>Patient_ID</a:t>
                      </a:r>
                      <a:r>
                        <a:rPr lang="en-IN" dirty="0"/>
                        <a:t> (FK), </a:t>
                      </a:r>
                      <a:r>
                        <a:rPr lang="en-IN" dirty="0" err="1"/>
                        <a:t>Doctor_ID</a:t>
                      </a:r>
                      <a:r>
                        <a:rPr lang="en-IN" dirty="0"/>
                        <a:t> (FK), </a:t>
                      </a:r>
                      <a:r>
                        <a:rPr lang="en-IN" dirty="0" err="1"/>
                        <a:t>Medicine_ID</a:t>
                      </a:r>
                      <a:r>
                        <a:rPr lang="en-IN" dirty="0"/>
                        <a:t> (FK), Dosage, Duration</a:t>
                      </a:r>
                    </a:p>
                  </a:txBody>
                  <a:tcPr/>
                </a:tc>
                <a:extLst>
                  <a:ext uri="{0D108BD9-81ED-4DB2-BD59-A6C34878D82A}">
                    <a16:rowId xmlns:a16="http://schemas.microsoft.com/office/drawing/2014/main" val="2428273282"/>
                  </a:ext>
                </a:extLst>
              </a:tr>
              <a:tr h="473595">
                <a:tc>
                  <a:txBody>
                    <a:bodyPr/>
                    <a:lstStyle/>
                    <a:p>
                      <a:pPr algn="l"/>
                      <a:r>
                        <a:rPr lang="en-IN" dirty="0"/>
                        <a:t>Billing</a:t>
                      </a:r>
                    </a:p>
                  </a:txBody>
                  <a:tcPr/>
                </a:tc>
                <a:tc>
                  <a:txBody>
                    <a:bodyPr/>
                    <a:lstStyle/>
                    <a:p>
                      <a:r>
                        <a:rPr lang="en-US" dirty="0" err="1"/>
                        <a:t>Bill_ID</a:t>
                      </a:r>
                      <a:r>
                        <a:rPr lang="en-US" dirty="0"/>
                        <a:t> (PK), </a:t>
                      </a:r>
                      <a:r>
                        <a:rPr lang="en-US" dirty="0" err="1"/>
                        <a:t>Patient_ID</a:t>
                      </a:r>
                      <a:r>
                        <a:rPr lang="en-US" dirty="0"/>
                        <a:t> (FK), </a:t>
                      </a:r>
                      <a:r>
                        <a:rPr lang="en-US" dirty="0" err="1"/>
                        <a:t>Bill_Date</a:t>
                      </a:r>
                      <a:r>
                        <a:rPr lang="en-US" dirty="0"/>
                        <a:t>, </a:t>
                      </a:r>
                      <a:r>
                        <a:rPr lang="en-US" dirty="0" err="1"/>
                        <a:t>Consultation_Fee</a:t>
                      </a:r>
                      <a:r>
                        <a:rPr lang="en-US" dirty="0"/>
                        <a:t>, </a:t>
                      </a:r>
                      <a:r>
                        <a:rPr lang="en-US" dirty="0" err="1"/>
                        <a:t>Medicine_Fee</a:t>
                      </a:r>
                      <a:r>
                        <a:rPr lang="en-US" dirty="0"/>
                        <a:t>, </a:t>
                      </a:r>
                      <a:r>
                        <a:rPr lang="en-US" dirty="0" err="1"/>
                        <a:t>Total_Amount</a:t>
                      </a:r>
                      <a:endParaRPr lang="en-IN" dirty="0"/>
                    </a:p>
                  </a:txBody>
                  <a:tcPr/>
                </a:tc>
                <a:extLst>
                  <a:ext uri="{0D108BD9-81ED-4DB2-BD59-A6C34878D82A}">
                    <a16:rowId xmlns:a16="http://schemas.microsoft.com/office/drawing/2014/main" val="1242805712"/>
                  </a:ext>
                </a:extLst>
              </a:tr>
              <a:tr h="473595">
                <a:tc>
                  <a:txBody>
                    <a:bodyPr/>
                    <a:lstStyle/>
                    <a:p>
                      <a:pPr algn="l"/>
                      <a:r>
                        <a:rPr lang="en-IN" dirty="0"/>
                        <a:t>Room</a:t>
                      </a:r>
                    </a:p>
                  </a:txBody>
                  <a:tcPr/>
                </a:tc>
                <a:tc>
                  <a:txBody>
                    <a:bodyPr/>
                    <a:lstStyle/>
                    <a:p>
                      <a:r>
                        <a:rPr lang="en-US" dirty="0" err="1"/>
                        <a:t>Room_ID</a:t>
                      </a:r>
                      <a:r>
                        <a:rPr lang="en-US" dirty="0"/>
                        <a:t> (PK), </a:t>
                      </a:r>
                      <a:r>
                        <a:rPr lang="en-US" dirty="0" err="1"/>
                        <a:t>Room_Number</a:t>
                      </a:r>
                      <a:r>
                        <a:rPr lang="en-US" dirty="0"/>
                        <a:t>, </a:t>
                      </a:r>
                      <a:r>
                        <a:rPr lang="en-US" dirty="0" err="1"/>
                        <a:t>Room_Type</a:t>
                      </a:r>
                      <a:r>
                        <a:rPr lang="en-US" dirty="0"/>
                        <a:t>, </a:t>
                      </a:r>
                      <a:r>
                        <a:rPr lang="en-US" dirty="0" err="1"/>
                        <a:t>Department_ID</a:t>
                      </a:r>
                      <a:r>
                        <a:rPr lang="en-US" dirty="0"/>
                        <a:t> (FK), </a:t>
                      </a:r>
                      <a:r>
                        <a:rPr lang="en-US" dirty="0" err="1"/>
                        <a:t>Room_Charge</a:t>
                      </a:r>
                      <a:r>
                        <a:rPr lang="en-US" dirty="0"/>
                        <a:t>, Status</a:t>
                      </a:r>
                      <a:endParaRPr lang="en-IN" dirty="0"/>
                    </a:p>
                  </a:txBody>
                  <a:tcPr/>
                </a:tc>
                <a:extLst>
                  <a:ext uri="{0D108BD9-81ED-4DB2-BD59-A6C34878D82A}">
                    <a16:rowId xmlns:a16="http://schemas.microsoft.com/office/drawing/2014/main" val="1605994711"/>
                  </a:ext>
                </a:extLst>
              </a:tr>
              <a:tr h="473595">
                <a:tc>
                  <a:txBody>
                    <a:bodyPr/>
                    <a:lstStyle/>
                    <a:p>
                      <a:pPr algn="l"/>
                      <a:r>
                        <a:rPr lang="en-IN" dirty="0"/>
                        <a:t>Staff</a:t>
                      </a:r>
                    </a:p>
                  </a:txBody>
                  <a:tcPr/>
                </a:tc>
                <a:tc>
                  <a:txBody>
                    <a:bodyPr/>
                    <a:lstStyle/>
                    <a:p>
                      <a:r>
                        <a:rPr lang="en-US" dirty="0" err="1"/>
                        <a:t>Staff_ID</a:t>
                      </a:r>
                      <a:r>
                        <a:rPr lang="en-US" dirty="0"/>
                        <a:t> (PK), </a:t>
                      </a:r>
                      <a:r>
                        <a:rPr lang="en-US" dirty="0" err="1"/>
                        <a:t>Staff_Name</a:t>
                      </a:r>
                      <a:r>
                        <a:rPr lang="en-US" dirty="0"/>
                        <a:t>, Role, Phone, Email, </a:t>
                      </a:r>
                      <a:r>
                        <a:rPr lang="en-US" dirty="0" err="1"/>
                        <a:t>Department_ID</a:t>
                      </a:r>
                      <a:r>
                        <a:rPr lang="en-US" dirty="0"/>
                        <a:t> (FK)</a:t>
                      </a:r>
                      <a:endParaRPr lang="en-IN" dirty="0"/>
                    </a:p>
                  </a:txBody>
                  <a:tcPr/>
                </a:tc>
                <a:extLst>
                  <a:ext uri="{0D108BD9-81ED-4DB2-BD59-A6C34878D82A}">
                    <a16:rowId xmlns:a16="http://schemas.microsoft.com/office/drawing/2014/main" val="399680132"/>
                  </a:ext>
                </a:extLst>
              </a:tr>
            </a:tbl>
          </a:graphicData>
        </a:graphic>
      </p:graphicFrame>
    </p:spTree>
    <p:extLst>
      <p:ext uri="{BB962C8B-B14F-4D97-AF65-F5344CB8AC3E}">
        <p14:creationId xmlns:p14="http://schemas.microsoft.com/office/powerpoint/2010/main" val="1967165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172C2F1-7C2B-09FB-1551-7E2133AD6F43}"/>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A7D60425-0689-0FA0-AF6C-56AFFFFF7564}"/>
              </a:ext>
            </a:extLst>
          </p:cNvPr>
          <p:cNvSpPr txBox="1"/>
          <p:nvPr/>
        </p:nvSpPr>
        <p:spPr>
          <a:xfrm>
            <a:off x="436879" y="372332"/>
            <a:ext cx="7301107" cy="800219"/>
          </a:xfrm>
          <a:prstGeom prst="rect">
            <a:avLst/>
          </a:prstGeom>
          <a:noFill/>
        </p:spPr>
        <p:txBody>
          <a:bodyPr wrap="square" rtlCol="0">
            <a:spAutoFit/>
          </a:bodyPr>
          <a:lstStyle/>
          <a:p>
            <a:r>
              <a:rPr lang="en-IN" sz="2800" dirty="0">
                <a:solidFill>
                  <a:srgbClr val="002060"/>
                </a:solidFill>
                <a:latin typeface="Algerian" panose="04020705040A02060702" pitchFamily="82" charset="0"/>
              </a:rPr>
              <a:t>6. Relationships and Cardinality</a:t>
            </a:r>
          </a:p>
          <a:p>
            <a:endParaRPr lang="en-IN" dirty="0"/>
          </a:p>
        </p:txBody>
      </p:sp>
      <p:graphicFrame>
        <p:nvGraphicFramePr>
          <p:cNvPr id="2" name="Table 1">
            <a:extLst>
              <a:ext uri="{FF2B5EF4-FFF2-40B4-BE49-F238E27FC236}">
                <a16:creationId xmlns:a16="http://schemas.microsoft.com/office/drawing/2014/main" id="{6E0DF3E0-D58E-661B-7285-0FFC9CBE7FDF}"/>
              </a:ext>
            </a:extLst>
          </p:cNvPr>
          <p:cNvGraphicFramePr>
            <a:graphicFrameLocks noGrp="1"/>
          </p:cNvGraphicFramePr>
          <p:nvPr>
            <p:extLst>
              <p:ext uri="{D42A27DB-BD31-4B8C-83A1-F6EECF244321}">
                <p14:modId xmlns:p14="http://schemas.microsoft.com/office/powerpoint/2010/main" val="2808114129"/>
              </p:ext>
            </p:extLst>
          </p:nvPr>
        </p:nvGraphicFramePr>
        <p:xfrm>
          <a:off x="58994" y="1172551"/>
          <a:ext cx="12133006" cy="5686274"/>
        </p:xfrm>
        <a:graphic>
          <a:graphicData uri="http://schemas.openxmlformats.org/drawingml/2006/table">
            <a:tbl>
              <a:tblPr firstRow="1" bandRow="1">
                <a:tableStyleId>{5C22544A-7EE6-4342-B048-85BDC9FD1C3A}</a:tableStyleId>
              </a:tblPr>
              <a:tblGrid>
                <a:gridCol w="2980494">
                  <a:extLst>
                    <a:ext uri="{9D8B030D-6E8A-4147-A177-3AD203B41FA5}">
                      <a16:colId xmlns:a16="http://schemas.microsoft.com/office/drawing/2014/main" val="535318141"/>
                    </a:ext>
                  </a:extLst>
                </a:gridCol>
                <a:gridCol w="1573152">
                  <a:extLst>
                    <a:ext uri="{9D8B030D-6E8A-4147-A177-3AD203B41FA5}">
                      <a16:colId xmlns:a16="http://schemas.microsoft.com/office/drawing/2014/main" val="3485350776"/>
                    </a:ext>
                  </a:extLst>
                </a:gridCol>
                <a:gridCol w="7579360">
                  <a:extLst>
                    <a:ext uri="{9D8B030D-6E8A-4147-A177-3AD203B41FA5}">
                      <a16:colId xmlns:a16="http://schemas.microsoft.com/office/drawing/2014/main" val="1098914318"/>
                    </a:ext>
                  </a:extLst>
                </a:gridCol>
              </a:tblGrid>
              <a:tr h="378543">
                <a:tc>
                  <a:txBody>
                    <a:bodyPr/>
                    <a:lstStyle/>
                    <a:p>
                      <a:pPr algn="ctr"/>
                      <a:r>
                        <a:rPr lang="en-IN" dirty="0"/>
                        <a:t>Relationship</a:t>
                      </a:r>
                    </a:p>
                  </a:txBody>
                  <a:tcPr/>
                </a:tc>
                <a:tc>
                  <a:txBody>
                    <a:bodyPr/>
                    <a:lstStyle/>
                    <a:p>
                      <a:pPr algn="ctr"/>
                      <a:r>
                        <a:rPr lang="en-IN" dirty="0"/>
                        <a:t>Cardinality</a:t>
                      </a:r>
                    </a:p>
                  </a:txBody>
                  <a:tcPr/>
                </a:tc>
                <a:tc>
                  <a:txBody>
                    <a:bodyPr/>
                    <a:lstStyle/>
                    <a:p>
                      <a:pPr algn="ctr"/>
                      <a:r>
                        <a:rPr lang="en-IN" dirty="0"/>
                        <a:t>Meaning</a:t>
                      </a:r>
                    </a:p>
                  </a:txBody>
                  <a:tcPr/>
                </a:tc>
                <a:extLst>
                  <a:ext uri="{0D108BD9-81ED-4DB2-BD59-A6C34878D82A}">
                    <a16:rowId xmlns:a16="http://schemas.microsoft.com/office/drawing/2014/main" val="1344069418"/>
                  </a:ext>
                </a:extLst>
              </a:tr>
              <a:tr h="408287">
                <a:tc>
                  <a:txBody>
                    <a:bodyPr/>
                    <a:lstStyle/>
                    <a:p>
                      <a:pPr algn="l"/>
                      <a:r>
                        <a:rPr lang="en-IN" dirty="0"/>
                        <a:t>Department - Doctor</a:t>
                      </a:r>
                    </a:p>
                  </a:txBody>
                  <a:tcPr/>
                </a:tc>
                <a:tc>
                  <a:txBody>
                    <a:bodyPr/>
                    <a:lstStyle/>
                    <a:p>
                      <a:pPr algn="l"/>
                      <a:r>
                        <a:rPr lang="en-IN" dirty="0"/>
                        <a:t>1 : M</a:t>
                      </a:r>
                    </a:p>
                  </a:txBody>
                  <a:tcPr/>
                </a:tc>
                <a:tc>
                  <a:txBody>
                    <a:bodyPr/>
                    <a:lstStyle/>
                    <a:p>
                      <a:pPr algn="l"/>
                      <a:r>
                        <a:rPr lang="en-IN" dirty="0"/>
                        <a:t>One department can have many doctors.</a:t>
                      </a:r>
                    </a:p>
                  </a:txBody>
                  <a:tcPr/>
                </a:tc>
                <a:extLst>
                  <a:ext uri="{0D108BD9-81ED-4DB2-BD59-A6C34878D82A}">
                    <a16:rowId xmlns:a16="http://schemas.microsoft.com/office/drawing/2014/main" val="3721139219"/>
                  </a:ext>
                </a:extLst>
              </a:tr>
              <a:tr h="408287">
                <a:tc>
                  <a:txBody>
                    <a:bodyPr/>
                    <a:lstStyle/>
                    <a:p>
                      <a:pPr algn="l"/>
                      <a:r>
                        <a:rPr lang="en-IN" dirty="0"/>
                        <a:t>Department - Staff</a:t>
                      </a:r>
                    </a:p>
                  </a:txBody>
                  <a:tcPr/>
                </a:tc>
                <a:tc>
                  <a:txBody>
                    <a:bodyPr/>
                    <a:lstStyle/>
                    <a:p>
                      <a:pPr algn="l"/>
                      <a:r>
                        <a:rPr lang="en-IN" dirty="0"/>
                        <a:t>1 : 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One department can have many staff members.</a:t>
                      </a:r>
                    </a:p>
                  </a:txBody>
                  <a:tcPr/>
                </a:tc>
                <a:extLst>
                  <a:ext uri="{0D108BD9-81ED-4DB2-BD59-A6C34878D82A}">
                    <a16:rowId xmlns:a16="http://schemas.microsoft.com/office/drawing/2014/main" val="2781847740"/>
                  </a:ext>
                </a:extLst>
              </a:tr>
              <a:tr h="408287">
                <a:tc>
                  <a:txBody>
                    <a:bodyPr/>
                    <a:lstStyle/>
                    <a:p>
                      <a:pPr algn="l"/>
                      <a:r>
                        <a:rPr lang="en-IN" dirty="0"/>
                        <a:t>Department - Room</a:t>
                      </a:r>
                    </a:p>
                  </a:txBody>
                  <a:tcPr/>
                </a:tc>
                <a:tc>
                  <a:txBody>
                    <a:bodyPr/>
                    <a:lstStyle/>
                    <a:p>
                      <a:pPr algn="l"/>
                      <a:r>
                        <a:rPr lang="en-IN" dirty="0"/>
                        <a:t>1 : 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One department can have many rooms.</a:t>
                      </a:r>
                    </a:p>
                  </a:txBody>
                  <a:tcPr/>
                </a:tc>
                <a:extLst>
                  <a:ext uri="{0D108BD9-81ED-4DB2-BD59-A6C34878D82A}">
                    <a16:rowId xmlns:a16="http://schemas.microsoft.com/office/drawing/2014/main" val="4075538349"/>
                  </a:ext>
                </a:extLst>
              </a:tr>
              <a:tr h="408287">
                <a:tc>
                  <a:txBody>
                    <a:bodyPr/>
                    <a:lstStyle/>
                    <a:p>
                      <a:pPr algn="l"/>
                      <a:r>
                        <a:rPr lang="en-IN" dirty="0"/>
                        <a:t>Patient - Appointment</a:t>
                      </a:r>
                    </a:p>
                  </a:txBody>
                  <a:tcPr/>
                </a:tc>
                <a:tc>
                  <a:txBody>
                    <a:bodyPr/>
                    <a:lstStyle/>
                    <a:p>
                      <a:pPr algn="l"/>
                      <a:r>
                        <a:rPr lang="en-IN" dirty="0"/>
                        <a:t>1 : M</a:t>
                      </a:r>
                    </a:p>
                  </a:txBody>
                  <a:tcPr/>
                </a:tc>
                <a:tc>
                  <a:txBody>
                    <a:bodyPr/>
                    <a:lstStyle/>
                    <a:p>
                      <a:pPr algn="l"/>
                      <a:r>
                        <a:rPr lang="en-IN" dirty="0"/>
                        <a:t>One patient can have many  appointments.</a:t>
                      </a:r>
                    </a:p>
                  </a:txBody>
                  <a:tcPr/>
                </a:tc>
                <a:extLst>
                  <a:ext uri="{0D108BD9-81ED-4DB2-BD59-A6C34878D82A}">
                    <a16:rowId xmlns:a16="http://schemas.microsoft.com/office/drawing/2014/main" val="896391542"/>
                  </a:ext>
                </a:extLst>
              </a:tr>
              <a:tr h="408287">
                <a:tc>
                  <a:txBody>
                    <a:bodyPr/>
                    <a:lstStyle/>
                    <a:p>
                      <a:pPr algn="l"/>
                      <a:r>
                        <a:rPr lang="en-IN" dirty="0"/>
                        <a:t>Doctor - Appointment</a:t>
                      </a:r>
                    </a:p>
                  </a:txBody>
                  <a:tcPr/>
                </a:tc>
                <a:tc>
                  <a:txBody>
                    <a:bodyPr/>
                    <a:lstStyle/>
                    <a:p>
                      <a:pPr algn="l"/>
                      <a:r>
                        <a:rPr lang="en-IN" dirty="0"/>
                        <a:t>1 : M</a:t>
                      </a:r>
                    </a:p>
                  </a:txBody>
                  <a:tcPr/>
                </a:tc>
                <a:tc>
                  <a:txBody>
                    <a:bodyPr/>
                    <a:lstStyle/>
                    <a:p>
                      <a:pPr algn="l"/>
                      <a:r>
                        <a:rPr lang="en-IN" dirty="0"/>
                        <a:t>One doctor can have many appointments.</a:t>
                      </a:r>
                    </a:p>
                  </a:txBody>
                  <a:tcPr/>
                </a:tc>
                <a:extLst>
                  <a:ext uri="{0D108BD9-81ED-4DB2-BD59-A6C34878D82A}">
                    <a16:rowId xmlns:a16="http://schemas.microsoft.com/office/drawing/2014/main" val="111706570"/>
                  </a:ext>
                </a:extLst>
              </a:tr>
              <a:tr h="408287">
                <a:tc>
                  <a:txBody>
                    <a:bodyPr/>
                    <a:lstStyle/>
                    <a:p>
                      <a:pPr algn="l"/>
                      <a:r>
                        <a:rPr lang="en-IN" dirty="0"/>
                        <a:t>Patient –  Medical Record</a:t>
                      </a:r>
                    </a:p>
                  </a:txBody>
                  <a:tcPr/>
                </a:tc>
                <a:tc>
                  <a:txBody>
                    <a:bodyPr/>
                    <a:lstStyle/>
                    <a:p>
                      <a:pPr algn="l"/>
                      <a:r>
                        <a:rPr lang="en-IN" dirty="0"/>
                        <a:t>1 : 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One patient can have many medical records.</a:t>
                      </a:r>
                    </a:p>
                  </a:txBody>
                  <a:tcPr/>
                </a:tc>
                <a:extLst>
                  <a:ext uri="{0D108BD9-81ED-4DB2-BD59-A6C34878D82A}">
                    <a16:rowId xmlns:a16="http://schemas.microsoft.com/office/drawing/2014/main" val="2234917169"/>
                  </a:ext>
                </a:extLst>
              </a:tr>
              <a:tr h="408287">
                <a:tc>
                  <a:txBody>
                    <a:bodyPr/>
                    <a:lstStyle/>
                    <a:p>
                      <a:pPr algn="l"/>
                      <a:r>
                        <a:rPr lang="en-IN" dirty="0"/>
                        <a:t>Doctor – Medical Record</a:t>
                      </a:r>
                    </a:p>
                  </a:txBody>
                  <a:tcPr/>
                </a:tc>
                <a:tc>
                  <a:txBody>
                    <a:bodyPr/>
                    <a:lstStyle/>
                    <a:p>
                      <a:pPr algn="l"/>
                      <a:r>
                        <a:rPr lang="en-IN" dirty="0"/>
                        <a:t>1 : 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One doctor can have many medical records.</a:t>
                      </a:r>
                    </a:p>
                  </a:txBody>
                  <a:tcPr/>
                </a:tc>
                <a:extLst>
                  <a:ext uri="{0D108BD9-81ED-4DB2-BD59-A6C34878D82A}">
                    <a16:rowId xmlns:a16="http://schemas.microsoft.com/office/drawing/2014/main" val="3705535042"/>
                  </a:ext>
                </a:extLst>
              </a:tr>
              <a:tr h="408287">
                <a:tc>
                  <a:txBody>
                    <a:bodyPr/>
                    <a:lstStyle/>
                    <a:p>
                      <a:pPr algn="l"/>
                      <a:r>
                        <a:rPr lang="en-IN" dirty="0"/>
                        <a:t>Patient - Prescription</a:t>
                      </a:r>
                    </a:p>
                  </a:txBody>
                  <a:tcPr/>
                </a:tc>
                <a:tc>
                  <a:txBody>
                    <a:bodyPr/>
                    <a:lstStyle/>
                    <a:p>
                      <a:pPr algn="l"/>
                      <a:r>
                        <a:rPr lang="en-IN" dirty="0"/>
                        <a:t>1 : 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One patient can have many prescription.</a:t>
                      </a:r>
                    </a:p>
                  </a:txBody>
                  <a:tcPr/>
                </a:tc>
                <a:extLst>
                  <a:ext uri="{0D108BD9-81ED-4DB2-BD59-A6C34878D82A}">
                    <a16:rowId xmlns:a16="http://schemas.microsoft.com/office/drawing/2014/main" val="398957349"/>
                  </a:ext>
                </a:extLst>
              </a:tr>
              <a:tr h="408287">
                <a:tc>
                  <a:txBody>
                    <a:bodyPr/>
                    <a:lstStyle/>
                    <a:p>
                      <a:pPr algn="l"/>
                      <a:r>
                        <a:rPr lang="en-IN" dirty="0"/>
                        <a:t>Doctor - Prescription </a:t>
                      </a:r>
                    </a:p>
                  </a:txBody>
                  <a:tcPr/>
                </a:tc>
                <a:tc>
                  <a:txBody>
                    <a:bodyPr/>
                    <a:lstStyle/>
                    <a:p>
                      <a:pPr algn="l"/>
                      <a:r>
                        <a:rPr lang="en-IN" dirty="0"/>
                        <a:t>1 : 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One doctor can have many prescription.</a:t>
                      </a:r>
                    </a:p>
                  </a:txBody>
                  <a:tcPr/>
                </a:tc>
                <a:extLst>
                  <a:ext uri="{0D108BD9-81ED-4DB2-BD59-A6C34878D82A}">
                    <a16:rowId xmlns:a16="http://schemas.microsoft.com/office/drawing/2014/main" val="2580225999"/>
                  </a:ext>
                </a:extLst>
              </a:tr>
              <a:tr h="408287">
                <a:tc>
                  <a:txBody>
                    <a:bodyPr/>
                    <a:lstStyle/>
                    <a:p>
                      <a:pPr algn="l"/>
                      <a:r>
                        <a:rPr lang="en-IN" dirty="0"/>
                        <a:t>Medicine - Prescription</a:t>
                      </a:r>
                    </a:p>
                  </a:txBody>
                  <a:tcPr/>
                </a:tc>
                <a:tc>
                  <a:txBody>
                    <a:bodyPr/>
                    <a:lstStyle/>
                    <a:p>
                      <a:pPr algn="l"/>
                      <a:r>
                        <a:rPr lang="en-IN" dirty="0"/>
                        <a:t>1 : M</a:t>
                      </a:r>
                    </a:p>
                  </a:txBody>
                  <a:tcPr/>
                </a:tc>
                <a:tc>
                  <a:txBody>
                    <a:bodyPr/>
                    <a:lstStyle/>
                    <a:p>
                      <a:pPr algn="l"/>
                      <a:r>
                        <a:rPr lang="en-IN" dirty="0"/>
                        <a:t>One medicine can be included in many prescription.</a:t>
                      </a:r>
                    </a:p>
                  </a:txBody>
                  <a:tcPr/>
                </a:tc>
                <a:extLst>
                  <a:ext uri="{0D108BD9-81ED-4DB2-BD59-A6C34878D82A}">
                    <a16:rowId xmlns:a16="http://schemas.microsoft.com/office/drawing/2014/main" val="2290504944"/>
                  </a:ext>
                </a:extLst>
              </a:tr>
              <a:tr h="408287">
                <a:tc>
                  <a:txBody>
                    <a:bodyPr/>
                    <a:lstStyle/>
                    <a:p>
                      <a:pPr algn="l"/>
                      <a:r>
                        <a:rPr lang="en-IN" dirty="0"/>
                        <a:t>Patient - Billing</a:t>
                      </a:r>
                    </a:p>
                  </a:txBody>
                  <a:tcPr/>
                </a:tc>
                <a:tc>
                  <a:txBody>
                    <a:bodyPr/>
                    <a:lstStyle/>
                    <a:p>
                      <a:pPr algn="l"/>
                      <a:r>
                        <a:rPr lang="en-IN" dirty="0"/>
                        <a:t>1 : M</a:t>
                      </a:r>
                    </a:p>
                  </a:txBody>
                  <a:tcPr/>
                </a:tc>
                <a:tc>
                  <a:txBody>
                    <a:bodyPr/>
                    <a:lstStyle/>
                    <a:p>
                      <a:pPr algn="l"/>
                      <a:r>
                        <a:rPr lang="en-IN" dirty="0"/>
                        <a:t>One patient can have many bills.</a:t>
                      </a:r>
                    </a:p>
                  </a:txBody>
                  <a:tcPr/>
                </a:tc>
                <a:extLst>
                  <a:ext uri="{0D108BD9-81ED-4DB2-BD59-A6C34878D82A}">
                    <a16:rowId xmlns:a16="http://schemas.microsoft.com/office/drawing/2014/main" val="4085617766"/>
                  </a:ext>
                </a:extLst>
              </a:tr>
              <a:tr h="408287">
                <a:tc>
                  <a:txBody>
                    <a:bodyPr/>
                    <a:lstStyle/>
                    <a:p>
                      <a:pPr algn="l"/>
                      <a:r>
                        <a:rPr lang="en-IN" dirty="0"/>
                        <a:t>Patient - Room</a:t>
                      </a:r>
                    </a:p>
                  </a:txBody>
                  <a:tcPr/>
                </a:tc>
                <a:tc>
                  <a:txBody>
                    <a:bodyPr/>
                    <a:lstStyle/>
                    <a:p>
                      <a:pPr algn="l"/>
                      <a:r>
                        <a:rPr lang="en-IN" dirty="0"/>
                        <a:t>1 : M</a:t>
                      </a:r>
                    </a:p>
                  </a:txBody>
                  <a:tcPr/>
                </a:tc>
                <a:tc>
                  <a:txBody>
                    <a:bodyPr/>
                    <a:lstStyle/>
                    <a:p>
                      <a:pPr algn="l"/>
                      <a:r>
                        <a:rPr lang="en-IN" dirty="0"/>
                        <a:t>One patient can be allocated many rooms.</a:t>
                      </a:r>
                    </a:p>
                  </a:txBody>
                  <a:tcPr/>
                </a:tc>
                <a:extLst>
                  <a:ext uri="{0D108BD9-81ED-4DB2-BD59-A6C34878D82A}">
                    <a16:rowId xmlns:a16="http://schemas.microsoft.com/office/drawing/2014/main" val="3156887970"/>
                  </a:ext>
                </a:extLst>
              </a:tr>
              <a:tr h="408287">
                <a:tc>
                  <a:txBody>
                    <a:bodyPr/>
                    <a:lstStyle/>
                    <a:p>
                      <a:pPr algn="l"/>
                      <a:r>
                        <a:rPr lang="en-IN" dirty="0"/>
                        <a:t>Department - Course</a:t>
                      </a:r>
                    </a:p>
                  </a:txBody>
                  <a:tcPr/>
                </a:tc>
                <a:tc>
                  <a:txBody>
                    <a:bodyPr/>
                    <a:lstStyle/>
                    <a:p>
                      <a:pPr algn="l"/>
                      <a:r>
                        <a:rPr lang="en-IN" dirty="0"/>
                        <a:t>1 : M</a:t>
                      </a:r>
                    </a:p>
                  </a:txBody>
                  <a:tcPr/>
                </a:tc>
                <a:tc>
                  <a:txBody>
                    <a:bodyPr/>
                    <a:lstStyle/>
                    <a:p>
                      <a:pPr algn="l"/>
                      <a:r>
                        <a:rPr lang="en-IN" dirty="0"/>
                        <a:t>One department can offer many courses.</a:t>
                      </a:r>
                    </a:p>
                  </a:txBody>
                  <a:tcPr/>
                </a:tc>
                <a:extLst>
                  <a:ext uri="{0D108BD9-81ED-4DB2-BD59-A6C34878D82A}">
                    <a16:rowId xmlns:a16="http://schemas.microsoft.com/office/drawing/2014/main" val="3616288995"/>
                  </a:ext>
                </a:extLst>
              </a:tr>
            </a:tbl>
          </a:graphicData>
        </a:graphic>
      </p:graphicFrame>
    </p:spTree>
    <p:extLst>
      <p:ext uri="{BB962C8B-B14F-4D97-AF65-F5344CB8AC3E}">
        <p14:creationId xmlns:p14="http://schemas.microsoft.com/office/powerpoint/2010/main" val="792732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2185A56-E174-A27A-CCA2-769EDF8591A6}"/>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7E0CE3D-C130-A98C-B2BA-B638578DF41C}"/>
              </a:ext>
            </a:extLst>
          </p:cNvPr>
          <p:cNvSpPr txBox="1"/>
          <p:nvPr/>
        </p:nvSpPr>
        <p:spPr>
          <a:xfrm>
            <a:off x="518160" y="436880"/>
            <a:ext cx="5333511" cy="830997"/>
          </a:xfrm>
          <a:prstGeom prst="rect">
            <a:avLst/>
          </a:prstGeom>
          <a:noFill/>
        </p:spPr>
        <p:txBody>
          <a:bodyPr wrap="none" rtlCol="0">
            <a:spAutoFit/>
          </a:bodyPr>
          <a:lstStyle/>
          <a:p>
            <a:r>
              <a:rPr lang="en-IN" sz="2400" dirty="0">
                <a:solidFill>
                  <a:srgbClr val="002060"/>
                </a:solidFill>
                <a:latin typeface="Algerian" panose="04020705040A02060702" pitchFamily="82" charset="0"/>
              </a:rPr>
              <a:t>7. Relational Database Schema</a:t>
            </a:r>
          </a:p>
          <a:p>
            <a:endParaRPr lang="en-IN" sz="2400" dirty="0">
              <a:latin typeface="Algerian" panose="04020705040A02060702" pitchFamily="82" charset="0"/>
            </a:endParaRPr>
          </a:p>
        </p:txBody>
      </p:sp>
      <p:graphicFrame>
        <p:nvGraphicFramePr>
          <p:cNvPr id="26" name="Table 25">
            <a:extLst>
              <a:ext uri="{FF2B5EF4-FFF2-40B4-BE49-F238E27FC236}">
                <a16:creationId xmlns:a16="http://schemas.microsoft.com/office/drawing/2014/main" id="{62C6252D-2A65-F3B1-89BC-FD5D825C2F48}"/>
              </a:ext>
            </a:extLst>
          </p:cNvPr>
          <p:cNvGraphicFramePr>
            <a:graphicFrameLocks noGrp="1"/>
          </p:cNvGraphicFramePr>
          <p:nvPr>
            <p:extLst>
              <p:ext uri="{D42A27DB-BD31-4B8C-83A1-F6EECF244321}">
                <p14:modId xmlns:p14="http://schemas.microsoft.com/office/powerpoint/2010/main" val="1341299485"/>
              </p:ext>
            </p:extLst>
          </p:nvPr>
        </p:nvGraphicFramePr>
        <p:xfrm>
          <a:off x="0" y="1188720"/>
          <a:ext cx="12192000" cy="5872478"/>
        </p:xfrm>
        <a:graphic>
          <a:graphicData uri="http://schemas.openxmlformats.org/drawingml/2006/table">
            <a:tbl>
              <a:tblPr firstCol="1" bandRow="1">
                <a:tableStyleId>{7DF18680-E054-41AD-8BC1-D1AEF772440D}</a:tableStyleId>
              </a:tblPr>
              <a:tblGrid>
                <a:gridCol w="1524000">
                  <a:extLst>
                    <a:ext uri="{9D8B030D-6E8A-4147-A177-3AD203B41FA5}">
                      <a16:colId xmlns:a16="http://schemas.microsoft.com/office/drawing/2014/main" val="555475392"/>
                    </a:ext>
                  </a:extLst>
                </a:gridCol>
                <a:gridCol w="8178800">
                  <a:extLst>
                    <a:ext uri="{9D8B030D-6E8A-4147-A177-3AD203B41FA5}">
                      <a16:colId xmlns:a16="http://schemas.microsoft.com/office/drawing/2014/main" val="4192671234"/>
                    </a:ext>
                  </a:extLst>
                </a:gridCol>
                <a:gridCol w="2489200">
                  <a:extLst>
                    <a:ext uri="{9D8B030D-6E8A-4147-A177-3AD203B41FA5}">
                      <a16:colId xmlns:a16="http://schemas.microsoft.com/office/drawing/2014/main" val="3501379789"/>
                    </a:ext>
                  </a:extLst>
                </a:gridCol>
              </a:tblGrid>
              <a:tr h="461120">
                <a:tc>
                  <a:txBody>
                    <a:bodyPr/>
                    <a:lstStyle/>
                    <a:p>
                      <a:pPr algn="l"/>
                      <a:r>
                        <a:rPr lang="en-IN" sz="1600" dirty="0"/>
                        <a:t>Patient</a:t>
                      </a:r>
                    </a:p>
                  </a:txBody>
                  <a:tcPr/>
                </a:tc>
                <a:tc>
                  <a:txBody>
                    <a:bodyPr/>
                    <a:lstStyle/>
                    <a:p>
                      <a:r>
                        <a:rPr lang="en-US" sz="1600" dirty="0"/>
                        <a:t>Patient (</a:t>
                      </a:r>
                      <a:r>
                        <a:rPr lang="en-US" sz="1600" dirty="0" err="1"/>
                        <a:t>Patient_ID</a:t>
                      </a:r>
                      <a:r>
                        <a:rPr lang="en-US" sz="1600" dirty="0"/>
                        <a:t> , </a:t>
                      </a:r>
                      <a:r>
                        <a:rPr lang="en-US" sz="1600" dirty="0" err="1"/>
                        <a:t>Patient_Name</a:t>
                      </a:r>
                      <a:r>
                        <a:rPr lang="en-US" sz="1600" dirty="0"/>
                        <a:t>, DOB, Gender, Phone, Address)</a:t>
                      </a:r>
                      <a:endParaRPr lang="en-IN" sz="1600" dirty="0"/>
                    </a:p>
                  </a:txBody>
                  <a:tcPr/>
                </a:tc>
                <a:tc>
                  <a:txBody>
                    <a:bodyPr/>
                    <a:lstStyle/>
                    <a:p>
                      <a:r>
                        <a:rPr lang="en-US" sz="1600" dirty="0"/>
                        <a:t> PK : </a:t>
                      </a:r>
                      <a:r>
                        <a:rPr lang="en-US" sz="1600" dirty="0" err="1"/>
                        <a:t>Patient_ID</a:t>
                      </a:r>
                      <a:r>
                        <a:rPr lang="en-US" sz="1600" dirty="0"/>
                        <a:t> </a:t>
                      </a:r>
                      <a:endParaRPr lang="en-IN" sz="1600" dirty="0"/>
                    </a:p>
                  </a:txBody>
                  <a:tcPr/>
                </a:tc>
                <a:extLst>
                  <a:ext uri="{0D108BD9-81ED-4DB2-BD59-A6C34878D82A}">
                    <a16:rowId xmlns:a16="http://schemas.microsoft.com/office/drawing/2014/main" val="2443466997"/>
                  </a:ext>
                </a:extLst>
              </a:tr>
              <a:tr h="585874">
                <a:tc>
                  <a:txBody>
                    <a:bodyPr/>
                    <a:lstStyle/>
                    <a:p>
                      <a:pPr algn="l"/>
                      <a:r>
                        <a:rPr lang="en-IN" sz="1600" dirty="0"/>
                        <a:t>Doctor</a:t>
                      </a:r>
                    </a:p>
                  </a:txBody>
                  <a:tcPr/>
                </a:tc>
                <a:tc>
                  <a:txBody>
                    <a:bodyPr/>
                    <a:lstStyle/>
                    <a:p>
                      <a:r>
                        <a:rPr lang="en-US" sz="1600" dirty="0"/>
                        <a:t>Doctor (</a:t>
                      </a:r>
                      <a:r>
                        <a:rPr lang="en-US" sz="1600" dirty="0" err="1"/>
                        <a:t>Doctor_ID</a:t>
                      </a:r>
                      <a:r>
                        <a:rPr lang="en-US" sz="1600" dirty="0"/>
                        <a:t> , </a:t>
                      </a:r>
                      <a:r>
                        <a:rPr lang="en-US" sz="1600" dirty="0" err="1"/>
                        <a:t>Doctor_Name</a:t>
                      </a:r>
                      <a:r>
                        <a:rPr lang="en-US" sz="1600" dirty="0"/>
                        <a:t>, Specialization, Phone, Email, </a:t>
                      </a:r>
                      <a:r>
                        <a:rPr lang="en-US" sz="1600" dirty="0" err="1"/>
                        <a:t>Department_ID</a:t>
                      </a:r>
                      <a:r>
                        <a:rPr lang="en-US" sz="1600" dirty="0"/>
                        <a:t>) </a:t>
                      </a:r>
                      <a:endParaRPr lang="en-IN" sz="1600" dirty="0"/>
                    </a:p>
                  </a:txBody>
                  <a:tcPr/>
                </a:tc>
                <a:tc>
                  <a:txBody>
                    <a:bodyPr/>
                    <a:lstStyle/>
                    <a:p>
                      <a:r>
                        <a:rPr lang="en-US" sz="1600" dirty="0"/>
                        <a:t>PK: </a:t>
                      </a:r>
                      <a:r>
                        <a:rPr lang="en-US" sz="1600" dirty="0" err="1"/>
                        <a:t>Doctor_ID</a:t>
                      </a:r>
                      <a:r>
                        <a:rPr lang="en-US" sz="1600" dirty="0"/>
                        <a:t> | FK: </a:t>
                      </a:r>
                      <a:r>
                        <a:rPr lang="en-US" sz="1600" dirty="0" err="1"/>
                        <a:t>Department_ID</a:t>
                      </a:r>
                      <a:endParaRPr lang="en-IN" sz="1600" dirty="0"/>
                    </a:p>
                  </a:txBody>
                  <a:tcPr/>
                </a:tc>
                <a:extLst>
                  <a:ext uri="{0D108BD9-81ED-4DB2-BD59-A6C34878D82A}">
                    <a16:rowId xmlns:a16="http://schemas.microsoft.com/office/drawing/2014/main" val="2212672525"/>
                  </a:ext>
                </a:extLst>
              </a:tr>
              <a:tr h="585874">
                <a:tc>
                  <a:txBody>
                    <a:bodyPr/>
                    <a:lstStyle/>
                    <a:p>
                      <a:pPr algn="l"/>
                      <a:r>
                        <a:rPr lang="en-IN" sz="1600" dirty="0"/>
                        <a:t>Department</a:t>
                      </a:r>
                    </a:p>
                  </a:txBody>
                  <a:tcPr/>
                </a:tc>
                <a:tc>
                  <a:txBody>
                    <a:bodyPr/>
                    <a:lstStyle/>
                    <a:p>
                      <a:r>
                        <a:rPr lang="en-US" sz="1600" dirty="0"/>
                        <a:t>Department (</a:t>
                      </a:r>
                      <a:r>
                        <a:rPr lang="en-US" sz="1600" dirty="0" err="1"/>
                        <a:t>Department_ID</a:t>
                      </a:r>
                      <a:r>
                        <a:rPr lang="en-US" sz="1600" dirty="0"/>
                        <a:t> , </a:t>
                      </a:r>
                      <a:r>
                        <a:rPr lang="en-US" sz="1600" dirty="0" err="1"/>
                        <a:t>Department_Name</a:t>
                      </a:r>
                      <a:r>
                        <a:rPr lang="en-US" sz="1600" dirty="0"/>
                        <a:t>, Location, Phone, </a:t>
                      </a:r>
                      <a:r>
                        <a:rPr lang="en-US" sz="1600" dirty="0" err="1"/>
                        <a:t>Head_Doctor</a:t>
                      </a:r>
                      <a:r>
                        <a:rPr lang="en-US" sz="1600" dirty="0"/>
                        <a:t>, Description)</a:t>
                      </a:r>
                      <a:endParaRPr lang="en-IN" sz="1600" dirty="0"/>
                    </a:p>
                  </a:txBody>
                  <a:tcPr/>
                </a:tc>
                <a:tc>
                  <a:txBody>
                    <a:bodyPr/>
                    <a:lstStyle/>
                    <a:p>
                      <a:r>
                        <a:rPr lang="en-IN" sz="1400" dirty="0"/>
                        <a:t>PK: </a:t>
                      </a:r>
                      <a:r>
                        <a:rPr lang="en-IN" sz="1400" dirty="0" err="1"/>
                        <a:t>Department_ID</a:t>
                      </a:r>
                      <a:endParaRPr lang="en-IN" sz="1400" dirty="0"/>
                    </a:p>
                  </a:txBody>
                  <a:tcPr/>
                </a:tc>
                <a:extLst>
                  <a:ext uri="{0D108BD9-81ED-4DB2-BD59-A6C34878D82A}">
                    <a16:rowId xmlns:a16="http://schemas.microsoft.com/office/drawing/2014/main" val="3242659779"/>
                  </a:ext>
                </a:extLst>
              </a:tr>
              <a:tr h="640533">
                <a:tc>
                  <a:txBody>
                    <a:bodyPr/>
                    <a:lstStyle/>
                    <a:p>
                      <a:pPr algn="l"/>
                      <a:r>
                        <a:rPr lang="en-IN" sz="1600" dirty="0"/>
                        <a:t>Appointment</a:t>
                      </a:r>
                    </a:p>
                  </a:txBody>
                  <a:tcPr/>
                </a:tc>
                <a:tc>
                  <a:txBody>
                    <a:bodyPr/>
                    <a:lstStyle/>
                    <a:p>
                      <a:r>
                        <a:rPr lang="en-US" sz="1600" dirty="0"/>
                        <a:t>Appointment (</a:t>
                      </a:r>
                      <a:r>
                        <a:rPr lang="en-US" sz="1600" dirty="0" err="1"/>
                        <a:t>Appointment_ID</a:t>
                      </a:r>
                      <a:r>
                        <a:rPr lang="en-US" sz="1600" dirty="0"/>
                        <a:t> , </a:t>
                      </a:r>
                      <a:r>
                        <a:rPr lang="en-US" sz="1600" dirty="0" err="1"/>
                        <a:t>Patient_ID</a:t>
                      </a:r>
                      <a:r>
                        <a:rPr lang="en-US" sz="1600" dirty="0"/>
                        <a:t> , </a:t>
                      </a:r>
                      <a:r>
                        <a:rPr lang="en-US" sz="1600" dirty="0" err="1"/>
                        <a:t>Doctor_ID</a:t>
                      </a:r>
                      <a:r>
                        <a:rPr lang="en-US" sz="1600" dirty="0"/>
                        <a:t> , </a:t>
                      </a:r>
                      <a:r>
                        <a:rPr lang="en-US" sz="1600" dirty="0" err="1"/>
                        <a:t>Appointment_Date</a:t>
                      </a:r>
                      <a:r>
                        <a:rPr lang="en-US" sz="1600" dirty="0"/>
                        <a:t>, </a:t>
                      </a:r>
                      <a:r>
                        <a:rPr lang="en-US" sz="1600" dirty="0" err="1"/>
                        <a:t>Appointment_Time</a:t>
                      </a:r>
                      <a:r>
                        <a:rPr lang="en-US" sz="1600" dirty="0"/>
                        <a:t>, Status)</a:t>
                      </a:r>
                      <a:endParaRPr lang="en-IN" sz="1600" dirty="0"/>
                    </a:p>
                  </a:txBody>
                  <a:tcPr/>
                </a:tc>
                <a:tc>
                  <a:txBody>
                    <a:bodyPr/>
                    <a:lstStyle/>
                    <a:p>
                      <a:r>
                        <a:rPr lang="en-US" sz="1400" dirty="0"/>
                        <a:t>PK: </a:t>
                      </a:r>
                      <a:r>
                        <a:rPr lang="en-US" sz="1400" dirty="0" err="1"/>
                        <a:t>Appointment_ID</a:t>
                      </a:r>
                      <a:r>
                        <a:rPr lang="en-US" sz="1400" dirty="0"/>
                        <a:t> | FK: </a:t>
                      </a:r>
                      <a:r>
                        <a:rPr lang="en-US" sz="1400" dirty="0" err="1"/>
                        <a:t>Patient_ID</a:t>
                      </a:r>
                      <a:r>
                        <a:rPr lang="en-US" sz="1400" dirty="0"/>
                        <a:t>, </a:t>
                      </a:r>
                      <a:r>
                        <a:rPr lang="en-US" sz="1400" dirty="0" err="1"/>
                        <a:t>Doctor_ID</a:t>
                      </a:r>
                      <a:endParaRPr lang="en-IN" sz="1400" dirty="0"/>
                    </a:p>
                  </a:txBody>
                  <a:tcPr/>
                </a:tc>
                <a:extLst>
                  <a:ext uri="{0D108BD9-81ED-4DB2-BD59-A6C34878D82A}">
                    <a16:rowId xmlns:a16="http://schemas.microsoft.com/office/drawing/2014/main" val="1566693049"/>
                  </a:ext>
                </a:extLst>
              </a:tr>
              <a:tr h="585874">
                <a:tc>
                  <a:txBody>
                    <a:bodyPr/>
                    <a:lstStyle/>
                    <a:p>
                      <a:pPr algn="l"/>
                      <a:r>
                        <a:rPr lang="en-IN" sz="1600" dirty="0" err="1"/>
                        <a:t>Medical_Record</a:t>
                      </a:r>
                      <a:endParaRPr lang="en-IN" sz="1600" dirty="0"/>
                    </a:p>
                  </a:txBody>
                  <a:tcPr/>
                </a:tc>
                <a:tc>
                  <a:txBody>
                    <a:bodyPr/>
                    <a:lstStyle/>
                    <a:p>
                      <a:r>
                        <a:rPr lang="en-US" sz="1600" dirty="0" err="1"/>
                        <a:t>Medical_Record</a:t>
                      </a:r>
                      <a:r>
                        <a:rPr lang="en-US" sz="1600" dirty="0"/>
                        <a:t> (</a:t>
                      </a:r>
                      <a:r>
                        <a:rPr lang="en-US" sz="1600" dirty="0" err="1"/>
                        <a:t>Record_ID</a:t>
                      </a:r>
                      <a:r>
                        <a:rPr lang="en-US" sz="1600" dirty="0"/>
                        <a:t> , </a:t>
                      </a:r>
                      <a:r>
                        <a:rPr lang="en-US" sz="1600" dirty="0" err="1"/>
                        <a:t>Patient_ID</a:t>
                      </a:r>
                      <a:r>
                        <a:rPr lang="en-US" sz="1600" dirty="0"/>
                        <a:t> , </a:t>
                      </a:r>
                      <a:r>
                        <a:rPr lang="en-US" sz="1600" dirty="0" err="1"/>
                        <a:t>Doctor_ID</a:t>
                      </a:r>
                      <a:r>
                        <a:rPr lang="en-US" sz="1600" dirty="0"/>
                        <a:t> , Diagnosis, Treatment, </a:t>
                      </a:r>
                      <a:r>
                        <a:rPr lang="en-US" sz="1600" dirty="0" err="1"/>
                        <a:t>Record_Date</a:t>
                      </a:r>
                      <a:r>
                        <a:rPr lang="en-US" sz="1600" dirty="0"/>
                        <a:t>)</a:t>
                      </a:r>
                      <a:endParaRPr lang="en-IN" sz="1600" dirty="0"/>
                    </a:p>
                  </a:txBody>
                  <a:tcPr/>
                </a:tc>
                <a:tc>
                  <a:txBody>
                    <a:bodyPr/>
                    <a:lstStyle/>
                    <a:p>
                      <a:r>
                        <a:rPr lang="en-US" sz="1400" dirty="0"/>
                        <a:t>PK: </a:t>
                      </a:r>
                      <a:r>
                        <a:rPr lang="en-US" sz="1400" dirty="0" err="1"/>
                        <a:t>Record_ID</a:t>
                      </a:r>
                      <a:r>
                        <a:rPr lang="en-US" sz="1400" dirty="0"/>
                        <a:t> | FK: </a:t>
                      </a:r>
                      <a:r>
                        <a:rPr lang="en-US" sz="1400" dirty="0" err="1"/>
                        <a:t>Patient_ID</a:t>
                      </a:r>
                      <a:r>
                        <a:rPr lang="en-US" sz="1400" dirty="0"/>
                        <a:t>, </a:t>
                      </a:r>
                      <a:r>
                        <a:rPr lang="en-US" sz="1400" dirty="0" err="1"/>
                        <a:t>Doctor_ID</a:t>
                      </a:r>
                      <a:endParaRPr lang="en-IN" sz="1400" dirty="0"/>
                    </a:p>
                  </a:txBody>
                  <a:tcPr/>
                </a:tc>
                <a:extLst>
                  <a:ext uri="{0D108BD9-81ED-4DB2-BD59-A6C34878D82A}">
                    <a16:rowId xmlns:a16="http://schemas.microsoft.com/office/drawing/2014/main" val="2888339992"/>
                  </a:ext>
                </a:extLst>
              </a:tr>
              <a:tr h="585874">
                <a:tc>
                  <a:txBody>
                    <a:bodyPr/>
                    <a:lstStyle/>
                    <a:p>
                      <a:pPr algn="l"/>
                      <a:r>
                        <a:rPr lang="en-IN" sz="1600" dirty="0"/>
                        <a:t>Medicine</a:t>
                      </a:r>
                    </a:p>
                  </a:txBody>
                  <a:tcPr/>
                </a:tc>
                <a:tc>
                  <a:txBody>
                    <a:bodyPr/>
                    <a:lstStyle/>
                    <a:p>
                      <a:r>
                        <a:rPr lang="en-US" sz="1600" dirty="0"/>
                        <a:t>Medicine (</a:t>
                      </a:r>
                      <a:r>
                        <a:rPr lang="en-US" sz="1600" dirty="0" err="1"/>
                        <a:t>Medicine_ID</a:t>
                      </a:r>
                      <a:r>
                        <a:rPr lang="en-US" sz="1600" dirty="0"/>
                        <a:t> , </a:t>
                      </a:r>
                      <a:r>
                        <a:rPr lang="en-US" sz="1600" dirty="0" err="1"/>
                        <a:t>Medicine_Name</a:t>
                      </a:r>
                      <a:r>
                        <a:rPr lang="en-US" sz="1600" dirty="0"/>
                        <a:t>, Category, Manufacturer, Quantity, </a:t>
                      </a:r>
                      <a:r>
                        <a:rPr lang="en-US" sz="1600" dirty="0" err="1"/>
                        <a:t>Unit_Price</a:t>
                      </a:r>
                      <a:r>
                        <a:rPr lang="en-US" sz="1600" dirty="0"/>
                        <a:t>)</a:t>
                      </a:r>
                      <a:endParaRPr lang="en-IN" sz="1600" dirty="0"/>
                    </a:p>
                  </a:txBody>
                  <a:tcPr/>
                </a:tc>
                <a:tc>
                  <a:txBody>
                    <a:bodyPr/>
                    <a:lstStyle/>
                    <a:p>
                      <a:r>
                        <a:rPr lang="en-IN" sz="1400" dirty="0"/>
                        <a:t>PK: </a:t>
                      </a:r>
                      <a:r>
                        <a:rPr lang="en-IN" sz="1400" dirty="0" err="1"/>
                        <a:t>Medicine_ID</a:t>
                      </a:r>
                      <a:endParaRPr lang="en-IN" sz="1400" dirty="0"/>
                    </a:p>
                  </a:txBody>
                  <a:tcPr/>
                </a:tc>
                <a:extLst>
                  <a:ext uri="{0D108BD9-81ED-4DB2-BD59-A6C34878D82A}">
                    <a16:rowId xmlns:a16="http://schemas.microsoft.com/office/drawing/2014/main" val="217096386"/>
                  </a:ext>
                </a:extLst>
              </a:tr>
              <a:tr h="734974">
                <a:tc>
                  <a:txBody>
                    <a:bodyPr/>
                    <a:lstStyle/>
                    <a:p>
                      <a:pPr algn="l"/>
                      <a:r>
                        <a:rPr lang="en-IN" sz="1600" dirty="0"/>
                        <a:t>Prescription</a:t>
                      </a:r>
                    </a:p>
                  </a:txBody>
                  <a:tcPr/>
                </a:tc>
                <a:tc>
                  <a:txBody>
                    <a:bodyPr/>
                    <a:lstStyle/>
                    <a:p>
                      <a:r>
                        <a:rPr lang="en-IN" sz="1600" dirty="0"/>
                        <a:t>Prescription (</a:t>
                      </a:r>
                      <a:r>
                        <a:rPr lang="en-IN" sz="1600" dirty="0" err="1"/>
                        <a:t>Prescription_ID</a:t>
                      </a:r>
                      <a:r>
                        <a:rPr lang="en-IN" sz="1600" dirty="0"/>
                        <a:t> , </a:t>
                      </a:r>
                      <a:r>
                        <a:rPr lang="en-IN" sz="1600" dirty="0" err="1"/>
                        <a:t>Patient_ID</a:t>
                      </a:r>
                      <a:r>
                        <a:rPr lang="en-IN" sz="1600" dirty="0"/>
                        <a:t> , </a:t>
                      </a:r>
                      <a:r>
                        <a:rPr lang="en-IN" sz="1600" dirty="0" err="1"/>
                        <a:t>Doctor_ID</a:t>
                      </a:r>
                      <a:r>
                        <a:rPr lang="en-IN" sz="1600" dirty="0"/>
                        <a:t> , </a:t>
                      </a:r>
                      <a:r>
                        <a:rPr lang="en-IN" sz="1600" dirty="0" err="1"/>
                        <a:t>Medicine_ID</a:t>
                      </a:r>
                      <a:r>
                        <a:rPr lang="en-IN" sz="1600" dirty="0"/>
                        <a:t> , Dosage, Duration)</a:t>
                      </a:r>
                    </a:p>
                  </a:txBody>
                  <a:tcPr/>
                </a:tc>
                <a:tc>
                  <a:txBody>
                    <a:bodyPr/>
                    <a:lstStyle/>
                    <a:p>
                      <a:r>
                        <a:rPr lang="en-US" sz="1400" dirty="0"/>
                        <a:t>PK: </a:t>
                      </a:r>
                      <a:r>
                        <a:rPr lang="en-US" sz="1400" dirty="0" err="1"/>
                        <a:t>Prescription_ID</a:t>
                      </a:r>
                      <a:r>
                        <a:rPr lang="en-US" sz="1400" dirty="0"/>
                        <a:t> | FK: </a:t>
                      </a:r>
                      <a:r>
                        <a:rPr lang="en-US" sz="1400" dirty="0" err="1"/>
                        <a:t>Patient_ID</a:t>
                      </a:r>
                      <a:r>
                        <a:rPr lang="en-US" sz="1400" dirty="0"/>
                        <a:t>, </a:t>
                      </a:r>
                      <a:r>
                        <a:rPr lang="en-US" sz="1400" dirty="0" err="1"/>
                        <a:t>Doctor_ID</a:t>
                      </a:r>
                      <a:r>
                        <a:rPr lang="en-US" sz="1400" dirty="0"/>
                        <a:t>, </a:t>
                      </a:r>
                      <a:r>
                        <a:rPr lang="en-US" sz="1400" dirty="0" err="1"/>
                        <a:t>Medicine_ID</a:t>
                      </a:r>
                      <a:endParaRPr lang="en-IN" sz="1400" dirty="0"/>
                    </a:p>
                  </a:txBody>
                  <a:tcPr/>
                </a:tc>
                <a:extLst>
                  <a:ext uri="{0D108BD9-81ED-4DB2-BD59-A6C34878D82A}">
                    <a16:rowId xmlns:a16="http://schemas.microsoft.com/office/drawing/2014/main" val="4213453386"/>
                  </a:ext>
                </a:extLst>
              </a:tr>
              <a:tr h="585874">
                <a:tc>
                  <a:txBody>
                    <a:bodyPr/>
                    <a:lstStyle/>
                    <a:p>
                      <a:pPr algn="l"/>
                      <a:r>
                        <a:rPr lang="en-IN" sz="1600" dirty="0"/>
                        <a:t>Billing</a:t>
                      </a:r>
                    </a:p>
                  </a:txBody>
                  <a:tcPr/>
                </a:tc>
                <a:tc>
                  <a:txBody>
                    <a:bodyPr/>
                    <a:lstStyle/>
                    <a:p>
                      <a:r>
                        <a:rPr lang="en-US" sz="1600" dirty="0"/>
                        <a:t>Billing (</a:t>
                      </a:r>
                      <a:r>
                        <a:rPr lang="en-US" sz="1600" dirty="0" err="1"/>
                        <a:t>Bill_ID</a:t>
                      </a:r>
                      <a:r>
                        <a:rPr lang="en-US" sz="1600" dirty="0"/>
                        <a:t> , </a:t>
                      </a:r>
                      <a:r>
                        <a:rPr lang="en-US" sz="1600" dirty="0" err="1"/>
                        <a:t>Patient_ID</a:t>
                      </a:r>
                      <a:r>
                        <a:rPr lang="en-US" sz="1600" dirty="0"/>
                        <a:t> , </a:t>
                      </a:r>
                      <a:r>
                        <a:rPr lang="en-US" sz="1600" dirty="0" err="1"/>
                        <a:t>Bill_Date</a:t>
                      </a:r>
                      <a:r>
                        <a:rPr lang="en-US" sz="1600" dirty="0"/>
                        <a:t>, </a:t>
                      </a:r>
                      <a:r>
                        <a:rPr lang="en-US" sz="1600" dirty="0" err="1"/>
                        <a:t>Consultation_Fee</a:t>
                      </a:r>
                      <a:r>
                        <a:rPr lang="en-US" sz="1600" dirty="0"/>
                        <a:t>, </a:t>
                      </a:r>
                      <a:r>
                        <a:rPr lang="en-US" sz="1600" dirty="0" err="1"/>
                        <a:t>Medicine_Fee</a:t>
                      </a:r>
                      <a:r>
                        <a:rPr lang="en-US" sz="1600" dirty="0"/>
                        <a:t>, </a:t>
                      </a:r>
                      <a:r>
                        <a:rPr lang="en-US" sz="1600" dirty="0" err="1"/>
                        <a:t>Total_Amount</a:t>
                      </a:r>
                      <a:r>
                        <a:rPr lang="en-US" sz="1600" dirty="0"/>
                        <a:t>)</a:t>
                      </a:r>
                      <a:endParaRPr lang="en-IN" sz="1600" dirty="0"/>
                    </a:p>
                  </a:txBody>
                  <a:tcPr/>
                </a:tc>
                <a:tc>
                  <a:txBody>
                    <a:bodyPr/>
                    <a:lstStyle/>
                    <a:p>
                      <a:r>
                        <a:rPr lang="en-US" sz="1400" dirty="0"/>
                        <a:t>PK: </a:t>
                      </a:r>
                      <a:r>
                        <a:rPr lang="en-US" sz="1400" dirty="0" err="1"/>
                        <a:t>Bill_ID</a:t>
                      </a:r>
                      <a:r>
                        <a:rPr lang="en-US" sz="1400" dirty="0"/>
                        <a:t> | FK: </a:t>
                      </a:r>
                      <a:r>
                        <a:rPr lang="en-US" sz="1400" dirty="0" err="1"/>
                        <a:t>Patient_ID</a:t>
                      </a:r>
                      <a:endParaRPr lang="en-IN" sz="1400" dirty="0"/>
                    </a:p>
                  </a:txBody>
                  <a:tcPr/>
                </a:tc>
                <a:extLst>
                  <a:ext uri="{0D108BD9-81ED-4DB2-BD59-A6C34878D82A}">
                    <a16:rowId xmlns:a16="http://schemas.microsoft.com/office/drawing/2014/main" val="3410533334"/>
                  </a:ext>
                </a:extLst>
              </a:tr>
              <a:tr h="585874">
                <a:tc>
                  <a:txBody>
                    <a:bodyPr/>
                    <a:lstStyle/>
                    <a:p>
                      <a:pPr algn="l"/>
                      <a:r>
                        <a:rPr lang="en-IN" sz="1600" dirty="0"/>
                        <a:t>Room</a:t>
                      </a:r>
                    </a:p>
                  </a:txBody>
                  <a:tcPr/>
                </a:tc>
                <a:tc>
                  <a:txBody>
                    <a:bodyPr/>
                    <a:lstStyle/>
                    <a:p>
                      <a:r>
                        <a:rPr lang="en-US" sz="1600" dirty="0"/>
                        <a:t>Room (</a:t>
                      </a:r>
                      <a:r>
                        <a:rPr lang="en-US" sz="1600" dirty="0" err="1"/>
                        <a:t>Room_ID</a:t>
                      </a:r>
                      <a:r>
                        <a:rPr lang="en-US" sz="1600" dirty="0"/>
                        <a:t> , </a:t>
                      </a:r>
                      <a:r>
                        <a:rPr lang="en-US" sz="1600" dirty="0" err="1"/>
                        <a:t>Room_Number</a:t>
                      </a:r>
                      <a:r>
                        <a:rPr lang="en-US" sz="1600" dirty="0"/>
                        <a:t>, </a:t>
                      </a:r>
                      <a:r>
                        <a:rPr lang="en-US" sz="1600" dirty="0" err="1"/>
                        <a:t>Room_Type</a:t>
                      </a:r>
                      <a:r>
                        <a:rPr lang="en-US" sz="1600" dirty="0"/>
                        <a:t>, </a:t>
                      </a:r>
                      <a:r>
                        <a:rPr lang="en-US" sz="1600" dirty="0" err="1"/>
                        <a:t>Department_ID</a:t>
                      </a:r>
                      <a:r>
                        <a:rPr lang="en-US" sz="1600" dirty="0"/>
                        <a:t> , </a:t>
                      </a:r>
                      <a:r>
                        <a:rPr lang="en-US" sz="1600" dirty="0" err="1"/>
                        <a:t>Room_Charge</a:t>
                      </a:r>
                      <a:r>
                        <a:rPr lang="en-US" sz="1600" dirty="0"/>
                        <a:t>, Status)</a:t>
                      </a:r>
                      <a:endParaRPr lang="en-IN" sz="1600" dirty="0"/>
                    </a:p>
                  </a:txBody>
                  <a:tcPr/>
                </a:tc>
                <a:tc>
                  <a:txBody>
                    <a:bodyPr/>
                    <a:lstStyle/>
                    <a:p>
                      <a:r>
                        <a:rPr lang="en-US" sz="1400" dirty="0"/>
                        <a:t>PK: </a:t>
                      </a:r>
                      <a:r>
                        <a:rPr lang="en-US" sz="1400" dirty="0" err="1"/>
                        <a:t>Room_ID</a:t>
                      </a:r>
                      <a:r>
                        <a:rPr lang="en-US" sz="1400" dirty="0"/>
                        <a:t> | FK: </a:t>
                      </a:r>
                      <a:r>
                        <a:rPr lang="en-US" sz="1400" dirty="0" err="1"/>
                        <a:t>Department_ID</a:t>
                      </a:r>
                      <a:endParaRPr lang="en-IN" sz="1400" dirty="0"/>
                    </a:p>
                  </a:txBody>
                  <a:tcPr/>
                </a:tc>
                <a:extLst>
                  <a:ext uri="{0D108BD9-81ED-4DB2-BD59-A6C34878D82A}">
                    <a16:rowId xmlns:a16="http://schemas.microsoft.com/office/drawing/2014/main" val="509856538"/>
                  </a:ext>
                </a:extLst>
              </a:tr>
              <a:tr h="520607">
                <a:tc>
                  <a:txBody>
                    <a:bodyPr/>
                    <a:lstStyle/>
                    <a:p>
                      <a:pPr algn="l"/>
                      <a:r>
                        <a:rPr lang="en-IN" sz="1600" dirty="0"/>
                        <a:t>Staff</a:t>
                      </a:r>
                    </a:p>
                  </a:txBody>
                  <a:tcPr/>
                </a:tc>
                <a:tc>
                  <a:txBody>
                    <a:bodyPr/>
                    <a:lstStyle/>
                    <a:p>
                      <a:r>
                        <a:rPr lang="en-US" sz="1600" dirty="0"/>
                        <a:t>Staff (</a:t>
                      </a:r>
                      <a:r>
                        <a:rPr lang="en-US" sz="1600" dirty="0" err="1"/>
                        <a:t>Staff_ID</a:t>
                      </a:r>
                      <a:r>
                        <a:rPr lang="en-US" sz="1600" dirty="0"/>
                        <a:t> , </a:t>
                      </a:r>
                      <a:r>
                        <a:rPr lang="en-US" sz="1600" dirty="0" err="1"/>
                        <a:t>Staff_Name</a:t>
                      </a:r>
                      <a:r>
                        <a:rPr lang="en-US" sz="1600" dirty="0"/>
                        <a:t>, Role, Phone, Email, </a:t>
                      </a:r>
                      <a:r>
                        <a:rPr lang="en-US" sz="1600" dirty="0" err="1"/>
                        <a:t>Department_ID</a:t>
                      </a:r>
                      <a:r>
                        <a:rPr lang="en-US" sz="1600" dirty="0"/>
                        <a:t>)</a:t>
                      </a:r>
                      <a:endParaRPr lang="en-IN" sz="1600" dirty="0"/>
                    </a:p>
                  </a:txBody>
                  <a:tcPr/>
                </a:tc>
                <a:tc>
                  <a:txBody>
                    <a:bodyPr/>
                    <a:lstStyle/>
                    <a:p>
                      <a:r>
                        <a:rPr lang="en-US" sz="1400" dirty="0"/>
                        <a:t>PK: </a:t>
                      </a:r>
                      <a:r>
                        <a:rPr lang="en-US" sz="1400" dirty="0" err="1"/>
                        <a:t>Staff_ID</a:t>
                      </a:r>
                      <a:r>
                        <a:rPr lang="en-US" sz="1400" dirty="0"/>
                        <a:t> | FK: </a:t>
                      </a:r>
                      <a:r>
                        <a:rPr lang="en-US" sz="1400" dirty="0" err="1"/>
                        <a:t>Department_ID</a:t>
                      </a:r>
                      <a:endParaRPr lang="en-IN" sz="1400" dirty="0"/>
                    </a:p>
                  </a:txBody>
                  <a:tcPr/>
                </a:tc>
                <a:extLst>
                  <a:ext uri="{0D108BD9-81ED-4DB2-BD59-A6C34878D82A}">
                    <a16:rowId xmlns:a16="http://schemas.microsoft.com/office/drawing/2014/main" val="1214855767"/>
                  </a:ext>
                </a:extLst>
              </a:tr>
            </a:tbl>
          </a:graphicData>
        </a:graphic>
      </p:graphicFrame>
    </p:spTree>
    <p:extLst>
      <p:ext uri="{BB962C8B-B14F-4D97-AF65-F5344CB8AC3E}">
        <p14:creationId xmlns:p14="http://schemas.microsoft.com/office/powerpoint/2010/main" val="250128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73D4BE-2276-9BD6-8F36-E108AA92EA20}"/>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958C1282-50D8-509B-934D-9C0216EE5988}"/>
              </a:ext>
            </a:extLst>
          </p:cNvPr>
          <p:cNvSpPr txBox="1"/>
          <p:nvPr/>
        </p:nvSpPr>
        <p:spPr>
          <a:xfrm>
            <a:off x="609600" y="365760"/>
            <a:ext cx="4236720" cy="1077218"/>
          </a:xfrm>
          <a:prstGeom prst="rect">
            <a:avLst/>
          </a:prstGeom>
          <a:noFill/>
        </p:spPr>
        <p:txBody>
          <a:bodyPr wrap="square" rtlCol="0">
            <a:spAutoFit/>
          </a:bodyPr>
          <a:lstStyle/>
          <a:p>
            <a:r>
              <a:rPr lang="en-IN" sz="3200" dirty="0">
                <a:solidFill>
                  <a:srgbClr val="002060"/>
                </a:solidFill>
                <a:latin typeface="Algerian" panose="04020705040A02060702" pitchFamily="82" charset="0"/>
              </a:rPr>
              <a:t>8. ER Diagram</a:t>
            </a:r>
          </a:p>
          <a:p>
            <a:endParaRPr lang="en-IN" sz="3200" dirty="0"/>
          </a:p>
        </p:txBody>
      </p:sp>
    </p:spTree>
    <p:extLst>
      <p:ext uri="{BB962C8B-B14F-4D97-AF65-F5344CB8AC3E}">
        <p14:creationId xmlns:p14="http://schemas.microsoft.com/office/powerpoint/2010/main" val="4263979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6870D70-5F5B-9B9C-E8CA-3BDCB12D38CF}"/>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3F00BA3E-E2E2-322C-3422-0E0C8426F0C6}"/>
              </a:ext>
            </a:extLst>
          </p:cNvPr>
          <p:cNvSpPr txBox="1"/>
          <p:nvPr/>
        </p:nvSpPr>
        <p:spPr>
          <a:xfrm>
            <a:off x="624840" y="310777"/>
            <a:ext cx="8645315" cy="1077218"/>
          </a:xfrm>
          <a:prstGeom prst="rect">
            <a:avLst/>
          </a:prstGeom>
          <a:noFill/>
        </p:spPr>
        <p:txBody>
          <a:bodyPr wrap="none" rtlCol="0">
            <a:spAutoFit/>
          </a:bodyPr>
          <a:lstStyle/>
          <a:p>
            <a:r>
              <a:rPr lang="en-US" sz="3600" dirty="0">
                <a:solidFill>
                  <a:srgbClr val="002060"/>
                </a:solidFill>
                <a:latin typeface="Algerian" panose="04020705040A02060702" pitchFamily="82" charset="0"/>
              </a:rPr>
              <a:t>9. Team Responsibilities and GitHub</a:t>
            </a:r>
          </a:p>
          <a:p>
            <a:endParaRPr lang="en-IN" sz="2800" dirty="0"/>
          </a:p>
        </p:txBody>
      </p:sp>
      <p:graphicFrame>
        <p:nvGraphicFramePr>
          <p:cNvPr id="12" name="Table 11">
            <a:extLst>
              <a:ext uri="{FF2B5EF4-FFF2-40B4-BE49-F238E27FC236}">
                <a16:creationId xmlns:a16="http://schemas.microsoft.com/office/drawing/2014/main" id="{D6647EA2-C86E-21AA-A3AB-AFDBF51F62C8}"/>
              </a:ext>
            </a:extLst>
          </p:cNvPr>
          <p:cNvGraphicFramePr>
            <a:graphicFrameLocks noGrp="1"/>
          </p:cNvGraphicFramePr>
          <p:nvPr>
            <p:extLst>
              <p:ext uri="{D42A27DB-BD31-4B8C-83A1-F6EECF244321}">
                <p14:modId xmlns:p14="http://schemas.microsoft.com/office/powerpoint/2010/main" val="4290313117"/>
              </p:ext>
            </p:extLst>
          </p:nvPr>
        </p:nvGraphicFramePr>
        <p:xfrm>
          <a:off x="264160" y="1855215"/>
          <a:ext cx="11450320" cy="3421380"/>
        </p:xfrm>
        <a:graphic>
          <a:graphicData uri="http://schemas.openxmlformats.org/drawingml/2006/table">
            <a:tbl>
              <a:tblPr firstRow="1" bandRow="1">
                <a:tableStyleId>{5C22544A-7EE6-4342-B048-85BDC9FD1C3A}</a:tableStyleId>
              </a:tblPr>
              <a:tblGrid>
                <a:gridCol w="5725160">
                  <a:extLst>
                    <a:ext uri="{9D8B030D-6E8A-4147-A177-3AD203B41FA5}">
                      <a16:colId xmlns:a16="http://schemas.microsoft.com/office/drawing/2014/main" val="1296342734"/>
                    </a:ext>
                  </a:extLst>
                </a:gridCol>
                <a:gridCol w="5725160">
                  <a:extLst>
                    <a:ext uri="{9D8B030D-6E8A-4147-A177-3AD203B41FA5}">
                      <a16:colId xmlns:a16="http://schemas.microsoft.com/office/drawing/2014/main" val="1623619615"/>
                    </a:ext>
                  </a:extLst>
                </a:gridCol>
              </a:tblGrid>
              <a:tr h="684276">
                <a:tc>
                  <a:txBody>
                    <a:bodyPr/>
                    <a:lstStyle/>
                    <a:p>
                      <a:pPr>
                        <a:defRPr sz="1300" b="1">
                          <a:solidFill>
                            <a:srgbClr val="FFFFFF"/>
                          </a:solidFill>
                          <a:latin typeface="Aptos"/>
                        </a:defRPr>
                      </a:pPr>
                      <a:r>
                        <a:rPr sz="1600" dirty="0"/>
                        <a:t>Team Member</a:t>
                      </a:r>
                    </a:p>
                  </a:txBody>
                  <a:tcPr marL="73152" marR="45720" marT="36576" marB="36576"/>
                </a:tc>
                <a:tc>
                  <a:txBody>
                    <a:bodyPr/>
                    <a:lstStyle/>
                    <a:p>
                      <a:pPr>
                        <a:defRPr sz="1300" b="1">
                          <a:solidFill>
                            <a:srgbClr val="FFFFFF"/>
                          </a:solidFill>
                          <a:latin typeface="Aptos"/>
                        </a:defRPr>
                      </a:pPr>
                      <a:r>
                        <a:rPr sz="1600" dirty="0"/>
                        <a:t>Assigned responsibility</a:t>
                      </a:r>
                    </a:p>
                  </a:txBody>
                  <a:tcPr marL="73152" marR="45720" marT="36576" marB="36576"/>
                </a:tc>
                <a:extLst>
                  <a:ext uri="{0D108BD9-81ED-4DB2-BD59-A6C34878D82A}">
                    <a16:rowId xmlns:a16="http://schemas.microsoft.com/office/drawing/2014/main" val="52141133"/>
                  </a:ext>
                </a:extLst>
              </a:tr>
              <a:tr h="684276">
                <a:tc>
                  <a:txBody>
                    <a:bodyPr/>
                    <a:lstStyle/>
                    <a:p>
                      <a:pPr>
                        <a:defRPr sz="1300">
                          <a:solidFill>
                            <a:srgbClr val="232323"/>
                          </a:solidFill>
                          <a:latin typeface="Aptos"/>
                        </a:defRPr>
                      </a:pPr>
                      <a:r>
                        <a:rPr sz="1600" dirty="0"/>
                        <a:t>Student 1</a:t>
                      </a:r>
                    </a:p>
                  </a:txBody>
                  <a:tcPr marL="73152" marR="45720" marT="36576" marB="36576"/>
                </a:tc>
                <a:tc>
                  <a:txBody>
                    <a:bodyPr/>
                    <a:lstStyle/>
                    <a:p>
                      <a:pPr>
                        <a:defRPr sz="1300">
                          <a:solidFill>
                            <a:srgbClr val="232323"/>
                          </a:solidFill>
                          <a:latin typeface="Aptos"/>
                        </a:defRPr>
                      </a:pPr>
                      <a:r>
                        <a:rPr sz="1600" dirty="0"/>
                        <a:t>Project title, introduction, and problem statement</a:t>
                      </a:r>
                      <a:r>
                        <a:rPr lang="en-US" sz="1600" dirty="0"/>
                        <a:t>, Objectives</a:t>
                      </a:r>
                      <a:endParaRPr sz="1600" dirty="0"/>
                    </a:p>
                  </a:txBody>
                  <a:tcPr marL="73152" marR="45720" marT="36576" marB="36576"/>
                </a:tc>
                <a:extLst>
                  <a:ext uri="{0D108BD9-81ED-4DB2-BD59-A6C34878D82A}">
                    <a16:rowId xmlns:a16="http://schemas.microsoft.com/office/drawing/2014/main" val="667771072"/>
                  </a:ext>
                </a:extLst>
              </a:tr>
              <a:tr h="684276">
                <a:tc>
                  <a:txBody>
                    <a:bodyPr/>
                    <a:lstStyle/>
                    <a:p>
                      <a:pPr>
                        <a:defRPr sz="1300">
                          <a:solidFill>
                            <a:srgbClr val="232323"/>
                          </a:solidFill>
                          <a:latin typeface="Aptos"/>
                        </a:defRPr>
                      </a:pPr>
                      <a:r>
                        <a:rPr sz="1600" dirty="0"/>
                        <a:t>Student 2</a:t>
                      </a:r>
                    </a:p>
                  </a:txBody>
                  <a:tcPr marL="73152" marR="45720" marT="36576" marB="36576"/>
                </a:tc>
                <a:tc>
                  <a:txBody>
                    <a:bodyPr/>
                    <a:lstStyle/>
                    <a:p>
                      <a:pPr>
                        <a:defRPr sz="1300">
                          <a:solidFill>
                            <a:srgbClr val="232323"/>
                          </a:solidFill>
                          <a:latin typeface="Aptos"/>
                        </a:defRPr>
                      </a:pPr>
                      <a:r>
                        <a:rPr lang="en-US" sz="1600" dirty="0"/>
                        <a:t>S</a:t>
                      </a:r>
                      <a:r>
                        <a:rPr sz="1600" dirty="0"/>
                        <a:t>cope, and entity identification</a:t>
                      </a:r>
                      <a:r>
                        <a:rPr lang="en-US" sz="1600" dirty="0"/>
                        <a:t>, Attributes, Primary Keys, and Foreign Keys, </a:t>
                      </a:r>
                      <a:endParaRPr sz="1600" dirty="0"/>
                    </a:p>
                  </a:txBody>
                  <a:tcPr marL="73152" marR="45720" marT="36576" marB="36576"/>
                </a:tc>
                <a:extLst>
                  <a:ext uri="{0D108BD9-81ED-4DB2-BD59-A6C34878D82A}">
                    <a16:rowId xmlns:a16="http://schemas.microsoft.com/office/drawing/2014/main" val="1504824061"/>
                  </a:ext>
                </a:extLst>
              </a:tr>
              <a:tr h="684276">
                <a:tc>
                  <a:txBody>
                    <a:bodyPr/>
                    <a:lstStyle/>
                    <a:p>
                      <a:pPr>
                        <a:defRPr sz="1300">
                          <a:solidFill>
                            <a:srgbClr val="232323"/>
                          </a:solidFill>
                          <a:latin typeface="Aptos"/>
                        </a:defRPr>
                      </a:pPr>
                      <a:r>
                        <a:rPr sz="1600" dirty="0"/>
                        <a:t>Student 3</a:t>
                      </a:r>
                    </a:p>
                  </a:txBody>
                  <a:tcPr marL="73152" marR="45720" marT="36576" marB="36576"/>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232323"/>
                          </a:solidFill>
                          <a:latin typeface="Aptos"/>
                        </a:defRPr>
                      </a:pPr>
                      <a:r>
                        <a:rPr lang="en-IN" sz="1600" dirty="0"/>
                        <a:t>Relationships and cardinality, </a:t>
                      </a:r>
                      <a:r>
                        <a:rPr lang="de-DE" sz="1600" dirty="0"/>
                        <a:t>Relational schema and ER diagram</a:t>
                      </a:r>
                    </a:p>
                  </a:txBody>
                  <a:tcPr marL="73152" marR="45720" marT="36576" marB="36576"/>
                </a:tc>
                <a:extLst>
                  <a:ext uri="{0D108BD9-81ED-4DB2-BD59-A6C34878D82A}">
                    <a16:rowId xmlns:a16="http://schemas.microsoft.com/office/drawing/2014/main" val="3072549511"/>
                  </a:ext>
                </a:extLst>
              </a:tr>
              <a:tr h="684276">
                <a:tc>
                  <a:txBody>
                    <a:bodyPr/>
                    <a:lstStyle/>
                    <a:p>
                      <a:pPr>
                        <a:defRPr sz="1300">
                          <a:solidFill>
                            <a:srgbClr val="232323"/>
                          </a:solidFill>
                          <a:latin typeface="Aptos"/>
                        </a:defRPr>
                      </a:pPr>
                      <a:r>
                        <a:rPr sz="1600"/>
                        <a:t>Student 4</a:t>
                      </a:r>
                    </a:p>
                  </a:txBody>
                  <a:tcPr marL="73152" marR="45720" marT="36576" marB="36576"/>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232323"/>
                          </a:solidFill>
                          <a:latin typeface="Aptos"/>
                        </a:defRPr>
                      </a:pPr>
                      <a:r>
                        <a:rPr lang="en-US" sz="1600" dirty="0"/>
                        <a:t>GitHub repository and PPT documentation</a:t>
                      </a:r>
                    </a:p>
                  </a:txBody>
                  <a:tcPr marL="73152" marR="45720" marT="36576" marB="36576"/>
                </a:tc>
                <a:extLst>
                  <a:ext uri="{0D108BD9-81ED-4DB2-BD59-A6C34878D82A}">
                    <a16:rowId xmlns:a16="http://schemas.microsoft.com/office/drawing/2014/main" val="523204236"/>
                  </a:ext>
                </a:extLst>
              </a:tr>
            </a:tbl>
          </a:graphicData>
        </a:graphic>
      </p:graphicFrame>
      <p:sp>
        <p:nvSpPr>
          <p:cNvPr id="14" name="TextBox 13">
            <a:extLst>
              <a:ext uri="{FF2B5EF4-FFF2-40B4-BE49-F238E27FC236}">
                <a16:creationId xmlns:a16="http://schemas.microsoft.com/office/drawing/2014/main" id="{206459E1-86E3-97AF-1FA8-48AFD70FA252}"/>
              </a:ext>
            </a:extLst>
          </p:cNvPr>
          <p:cNvSpPr txBox="1"/>
          <p:nvPr/>
        </p:nvSpPr>
        <p:spPr>
          <a:xfrm>
            <a:off x="568960" y="5923280"/>
            <a:ext cx="5523756" cy="338554"/>
          </a:xfrm>
          <a:prstGeom prst="rect">
            <a:avLst/>
          </a:prstGeom>
          <a:noFill/>
        </p:spPr>
        <p:txBody>
          <a:bodyPr wrap="none" rtlCol="0">
            <a:spAutoFit/>
          </a:bodyPr>
          <a:lstStyle/>
          <a:p>
            <a:pPr>
              <a:defRPr sz="1500" b="1">
                <a:solidFill>
                  <a:srgbClr val="182D4A"/>
                </a:solidFill>
                <a:latin typeface="Aptos"/>
              </a:defRPr>
            </a:pPr>
            <a:r>
              <a:rPr lang="en-US" sz="1600" dirty="0"/>
              <a:t>GitHub Repository: Add the repository name and link here</a:t>
            </a:r>
          </a:p>
        </p:txBody>
      </p:sp>
    </p:spTree>
    <p:extLst>
      <p:ext uri="{BB962C8B-B14F-4D97-AF65-F5344CB8AC3E}">
        <p14:creationId xmlns:p14="http://schemas.microsoft.com/office/powerpoint/2010/main" val="296671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5B8BC1-4E74-75B2-50C2-599D98424ED1}"/>
              </a:ext>
            </a:extLst>
          </p:cNvPr>
          <p:cNvSpPr txBox="1"/>
          <p:nvPr/>
        </p:nvSpPr>
        <p:spPr>
          <a:xfrm>
            <a:off x="386080" y="304800"/>
            <a:ext cx="3749040" cy="861774"/>
          </a:xfrm>
          <a:prstGeom prst="rect">
            <a:avLst/>
          </a:prstGeom>
          <a:noFill/>
        </p:spPr>
        <p:txBody>
          <a:bodyPr wrap="square" rtlCol="0">
            <a:spAutoFit/>
          </a:bodyPr>
          <a:lstStyle/>
          <a:p>
            <a:r>
              <a:rPr lang="en-IN" sz="3200" dirty="0">
                <a:solidFill>
                  <a:srgbClr val="002060"/>
                </a:solidFill>
                <a:latin typeface="Algerian" panose="04020705040A02060702" pitchFamily="82" charset="0"/>
              </a:rPr>
              <a:t>10. Conclusion</a:t>
            </a:r>
          </a:p>
          <a:p>
            <a:endParaRPr lang="en-IN" dirty="0"/>
          </a:p>
        </p:txBody>
      </p:sp>
      <p:sp>
        <p:nvSpPr>
          <p:cNvPr id="10" name="Rectangle 9">
            <a:extLst>
              <a:ext uri="{FF2B5EF4-FFF2-40B4-BE49-F238E27FC236}">
                <a16:creationId xmlns:a16="http://schemas.microsoft.com/office/drawing/2014/main" id="{18FB066B-8E7A-2828-E253-DCAECC455600}"/>
              </a:ext>
            </a:extLst>
          </p:cNvPr>
          <p:cNvSpPr/>
          <p:nvPr/>
        </p:nvSpPr>
        <p:spPr>
          <a:xfrm>
            <a:off x="594360" y="1078992"/>
            <a:ext cx="10972800" cy="32004"/>
          </a:xfrm>
          <a:prstGeom prst="rect">
            <a:avLst/>
          </a:prstGeom>
          <a:solidFill>
            <a:srgbClr val="3D7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a:extLst>
              <a:ext uri="{FF2B5EF4-FFF2-40B4-BE49-F238E27FC236}">
                <a16:creationId xmlns:a16="http://schemas.microsoft.com/office/drawing/2014/main" id="{A4580DFC-6F9A-3FF9-1228-05D39EB98E4E}"/>
              </a:ext>
            </a:extLst>
          </p:cNvPr>
          <p:cNvSpPr txBox="1"/>
          <p:nvPr/>
        </p:nvSpPr>
        <p:spPr>
          <a:xfrm>
            <a:off x="330200" y="1820164"/>
            <a:ext cx="11531600" cy="4154984"/>
          </a:xfrm>
          <a:prstGeom prst="rect">
            <a:avLst/>
          </a:prstGeom>
          <a:noFill/>
        </p:spPr>
        <p:txBody>
          <a:bodyPr wrap="square" rtlCol="0">
            <a:spAutoFit/>
          </a:bodyPr>
          <a:lstStyle/>
          <a:p>
            <a:r>
              <a:rPr lang="en-US" sz="2400" dirty="0"/>
              <a:t>The proposed Hospital Management System identifies ten major hospital entities for the database.</a:t>
            </a:r>
          </a:p>
          <a:p>
            <a:endParaRPr lang="en-US" sz="2400" dirty="0"/>
          </a:p>
          <a:p>
            <a:r>
              <a:rPr lang="en-US" sz="2400" dirty="0"/>
              <a:t>The attributes, Primary Keys, and Foreign Keys for each entity have been identified.</a:t>
            </a:r>
          </a:p>
          <a:p>
            <a:endParaRPr lang="en-US" sz="2400" dirty="0"/>
          </a:p>
          <a:p>
            <a:r>
              <a:rPr lang="en-US" sz="2400" dirty="0"/>
              <a:t>The relationships and cardinalities between the entities have been defined.</a:t>
            </a:r>
          </a:p>
          <a:p>
            <a:endParaRPr lang="en-US" sz="2400" dirty="0"/>
          </a:p>
          <a:p>
            <a:r>
              <a:rPr lang="en-US" sz="2400" dirty="0"/>
              <a:t>The ER diagram and relational database schema have been designed.</a:t>
            </a:r>
          </a:p>
          <a:p>
            <a:endParaRPr lang="en-US" sz="2400" dirty="0"/>
          </a:p>
          <a:p>
            <a:r>
              <a:rPr lang="en-US" sz="2400" dirty="0"/>
              <a:t>The database design provides a structured foundation for efficient hospital data management and database implementation in Review-II</a:t>
            </a:r>
            <a:r>
              <a:rPr lang="en-US" dirty="0"/>
              <a:t>.</a:t>
            </a:r>
            <a:endParaRPr lang="en-IN" dirty="0"/>
          </a:p>
        </p:txBody>
      </p:sp>
    </p:spTree>
    <p:extLst>
      <p:ext uri="{BB962C8B-B14F-4D97-AF65-F5344CB8AC3E}">
        <p14:creationId xmlns:p14="http://schemas.microsoft.com/office/powerpoint/2010/main" val="93731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297</TotalTime>
  <Words>1315</Words>
  <Application>Microsoft Office PowerPoint</Application>
  <PresentationFormat>Widescreen</PresentationFormat>
  <Paragraphs>175</Paragraphs>
  <Slides>12</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Algerian</vt:lpstr>
      <vt:lpstr>Aptos</vt:lpstr>
      <vt:lpstr>Aptos Display</vt:lpstr>
      <vt:lpstr>Aptos Narrow</vt:lpstr>
      <vt:lpstr>Arial</vt:lpstr>
      <vt:lpstr>Arial Rounded MT Bold</vt:lpstr>
      <vt:lpstr>Calibri</vt:lpstr>
      <vt:lpstr>Calibri Light</vt:lpstr>
      <vt:lpstr>Centaur</vt:lpstr>
      <vt:lpstr>Times New Roman</vt:lpstr>
      <vt:lpstr>Office Theme</vt:lpstr>
      <vt:lpstr>HOSPITAL MANAGEMENT SYSTEM</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Kishorekumar Paleti</dc:creator>
  <cp:lastModifiedBy>vijaya durga karri</cp:lastModifiedBy>
  <cp:revision>8</cp:revision>
  <dcterms:created xsi:type="dcterms:W3CDTF">2026-08-06T08:12:37Z</dcterms:created>
  <dcterms:modified xsi:type="dcterms:W3CDTF">2026-09-13T14:35:18Z</dcterms:modified>
</cp:coreProperties>
</file>